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3"/>
    <p:restoredTop sz="94637"/>
  </p:normalViewPr>
  <p:slideViewPr>
    <p:cSldViewPr snapToGrid="0">
      <p:cViewPr varScale="1">
        <p:scale>
          <a:sx n="78" d="100"/>
          <a:sy n="78" d="100"/>
        </p:scale>
        <p:origin x="17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FAC4F-CFCF-41F9-8E61-41A53E5E10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0EA8BE6-EFEB-46B4-B1F5-070F43F80347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Satisfacción y bienestar subjetivo</a:t>
          </a:r>
          <a:endParaRPr lang="en-US" dirty="0">
            <a:solidFill>
              <a:schemeClr val="tx1"/>
            </a:solidFill>
          </a:endParaRPr>
        </a:p>
      </dgm:t>
    </dgm:pt>
    <dgm:pt modelId="{13D7C597-966C-428C-A7B9-393783F1AAB4}" type="parTrans" cxnId="{D2473D68-7538-4BBB-8902-88348224AD39}">
      <dgm:prSet/>
      <dgm:spPr/>
      <dgm:t>
        <a:bodyPr/>
        <a:lstStyle/>
        <a:p>
          <a:endParaRPr lang="en-US"/>
        </a:p>
      </dgm:t>
    </dgm:pt>
    <dgm:pt modelId="{9A94D4D0-20E9-43F0-BFF5-2C4FDEC4741C}" type="sibTrans" cxnId="{D2473D68-7538-4BBB-8902-88348224AD39}">
      <dgm:prSet/>
      <dgm:spPr/>
      <dgm:t>
        <a:bodyPr/>
        <a:lstStyle/>
        <a:p>
          <a:endParaRPr lang="en-US"/>
        </a:p>
      </dgm:t>
    </dgm:pt>
    <dgm:pt modelId="{A3E48EBF-631C-4715-9E37-7C94F362A3B9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Opiniones sobre democracia, gobierno y economía</a:t>
          </a:r>
          <a:endParaRPr lang="en-US" dirty="0">
            <a:solidFill>
              <a:schemeClr val="tx1"/>
            </a:solidFill>
          </a:endParaRPr>
        </a:p>
      </dgm:t>
    </dgm:pt>
    <dgm:pt modelId="{9EEC1078-F90C-4713-A659-CC0E9E84E7D7}" type="parTrans" cxnId="{D24DAF2B-FDFB-4631-A62D-A4437E42C24B}">
      <dgm:prSet/>
      <dgm:spPr/>
      <dgm:t>
        <a:bodyPr/>
        <a:lstStyle/>
        <a:p>
          <a:endParaRPr lang="en-US"/>
        </a:p>
      </dgm:t>
    </dgm:pt>
    <dgm:pt modelId="{5E5A4A65-778B-4F86-B1E6-4207D7F8246D}" type="sibTrans" cxnId="{D24DAF2B-FDFB-4631-A62D-A4437E42C24B}">
      <dgm:prSet/>
      <dgm:spPr/>
      <dgm:t>
        <a:bodyPr/>
        <a:lstStyle/>
        <a:p>
          <a:endParaRPr lang="en-US"/>
        </a:p>
      </dgm:t>
    </dgm:pt>
    <dgm:pt modelId="{82C9B3AF-1985-4E36-9980-BFCE4293235B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>
              <a:solidFill>
                <a:schemeClr val="tx1"/>
              </a:solidFill>
            </a:rPr>
            <a:t>Relaciones internacionales y globalización</a:t>
          </a:r>
          <a:endParaRPr lang="en-US">
            <a:solidFill>
              <a:schemeClr val="tx1"/>
            </a:solidFill>
          </a:endParaRPr>
        </a:p>
      </dgm:t>
    </dgm:pt>
    <dgm:pt modelId="{CFE93812-AA9D-4F2C-8329-9B5A6CC9E95D}" type="parTrans" cxnId="{114164E0-D1EE-4E70-99F3-0268691B7364}">
      <dgm:prSet/>
      <dgm:spPr/>
      <dgm:t>
        <a:bodyPr/>
        <a:lstStyle/>
        <a:p>
          <a:endParaRPr lang="en-US"/>
        </a:p>
      </dgm:t>
    </dgm:pt>
    <dgm:pt modelId="{B574C51B-BED8-478C-B1AB-783D25932305}" type="sibTrans" cxnId="{114164E0-D1EE-4E70-99F3-0268691B7364}">
      <dgm:prSet/>
      <dgm:spPr/>
      <dgm:t>
        <a:bodyPr/>
        <a:lstStyle/>
        <a:p>
          <a:endParaRPr lang="en-US"/>
        </a:p>
      </dgm:t>
    </dgm:pt>
    <dgm:pt modelId="{E3E3CC1D-1BE4-4B16-8769-6F93C279E979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>
              <a:solidFill>
                <a:schemeClr val="tx1"/>
              </a:solidFill>
            </a:rPr>
            <a:t>Cambio climático y medio ambiente</a:t>
          </a:r>
          <a:endParaRPr lang="en-US">
            <a:solidFill>
              <a:schemeClr val="tx1"/>
            </a:solidFill>
          </a:endParaRPr>
        </a:p>
      </dgm:t>
    </dgm:pt>
    <dgm:pt modelId="{F9E0DB3B-C204-45ED-AFB0-ABB4BCA7D0F7}" type="parTrans" cxnId="{DEFF8E3D-6CE3-4C6C-8D53-C535B7C2D38C}">
      <dgm:prSet/>
      <dgm:spPr/>
      <dgm:t>
        <a:bodyPr/>
        <a:lstStyle/>
        <a:p>
          <a:endParaRPr lang="en-US"/>
        </a:p>
      </dgm:t>
    </dgm:pt>
    <dgm:pt modelId="{EFF733E9-8946-4EF5-A31A-F4CE11F7CC43}" type="sibTrans" cxnId="{DEFF8E3D-6CE3-4C6C-8D53-C535B7C2D38C}">
      <dgm:prSet/>
      <dgm:spPr/>
      <dgm:t>
        <a:bodyPr/>
        <a:lstStyle/>
        <a:p>
          <a:endParaRPr lang="en-US"/>
        </a:p>
      </dgm:t>
    </dgm:pt>
    <dgm:pt modelId="{39F2242F-C7AA-42F2-9678-780AB2E78AA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Juventud y valores sociales</a:t>
          </a:r>
          <a:endParaRPr lang="en-US" dirty="0">
            <a:solidFill>
              <a:schemeClr val="tx1"/>
            </a:solidFill>
          </a:endParaRPr>
        </a:p>
      </dgm:t>
    </dgm:pt>
    <dgm:pt modelId="{83D17C6A-871C-4F88-9FA7-B4A1C0CE3371}" type="parTrans" cxnId="{37326B15-53DD-443C-8545-FA83FA0460D3}">
      <dgm:prSet/>
      <dgm:spPr/>
      <dgm:t>
        <a:bodyPr/>
        <a:lstStyle/>
        <a:p>
          <a:endParaRPr lang="en-US"/>
        </a:p>
      </dgm:t>
    </dgm:pt>
    <dgm:pt modelId="{1704CD76-BFA2-4ACF-BE78-1AE3FF7BC2C5}" type="sibTrans" cxnId="{37326B15-53DD-443C-8545-FA83FA0460D3}">
      <dgm:prSet/>
      <dgm:spPr/>
      <dgm:t>
        <a:bodyPr/>
        <a:lstStyle/>
        <a:p>
          <a:endParaRPr lang="en-US"/>
        </a:p>
      </dgm:t>
    </dgm:pt>
    <dgm:pt modelId="{CF09FB37-B346-46F6-A402-02F33614FFD0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Seguridad, corrupción y violencia</a:t>
          </a:r>
          <a:endParaRPr lang="en-US" dirty="0">
            <a:solidFill>
              <a:schemeClr val="tx1"/>
            </a:solidFill>
          </a:endParaRPr>
        </a:p>
      </dgm:t>
    </dgm:pt>
    <dgm:pt modelId="{30436487-E468-46F7-9C28-7C9C42A0848C}" type="parTrans" cxnId="{A3A7FB85-D4E4-4301-8926-92AAB3CB1AF9}">
      <dgm:prSet/>
      <dgm:spPr/>
      <dgm:t>
        <a:bodyPr/>
        <a:lstStyle/>
        <a:p>
          <a:endParaRPr lang="en-US"/>
        </a:p>
      </dgm:t>
    </dgm:pt>
    <dgm:pt modelId="{156C26F2-A417-4DB1-A200-203D9D188430}" type="sibTrans" cxnId="{A3A7FB85-D4E4-4301-8926-92AAB3CB1AF9}">
      <dgm:prSet/>
      <dgm:spPr/>
      <dgm:t>
        <a:bodyPr/>
        <a:lstStyle/>
        <a:p>
          <a:endParaRPr lang="en-US"/>
        </a:p>
      </dgm:t>
    </dgm:pt>
    <dgm:pt modelId="{C3CB4C75-F57F-4E89-ABD5-65957E09D75B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>
              <a:solidFill>
                <a:schemeClr val="tx1"/>
              </a:solidFill>
            </a:rPr>
            <a:t>Sociodemográficas</a:t>
          </a:r>
          <a:endParaRPr lang="en-US">
            <a:solidFill>
              <a:schemeClr val="tx1"/>
            </a:solidFill>
          </a:endParaRPr>
        </a:p>
      </dgm:t>
    </dgm:pt>
    <dgm:pt modelId="{28D8D5B8-5C53-4F86-850D-1781F41DC98A}" type="parTrans" cxnId="{85D380A9-5C1D-45F8-92C0-87AC666483DE}">
      <dgm:prSet/>
      <dgm:spPr/>
      <dgm:t>
        <a:bodyPr/>
        <a:lstStyle/>
        <a:p>
          <a:endParaRPr lang="en-US"/>
        </a:p>
      </dgm:t>
    </dgm:pt>
    <dgm:pt modelId="{5DB623A9-44D8-43E1-B318-FBE2AD3425E8}" type="sibTrans" cxnId="{85D380A9-5C1D-45F8-92C0-87AC666483DE}">
      <dgm:prSet/>
      <dgm:spPr/>
      <dgm:t>
        <a:bodyPr/>
        <a:lstStyle/>
        <a:p>
          <a:endParaRPr lang="en-US"/>
        </a:p>
      </dgm:t>
    </dgm:pt>
    <dgm:pt modelId="{7CC5BF2E-2510-EB45-BB3C-569738FFD298}" type="pres">
      <dgm:prSet presAssocID="{605FAC4F-CFCF-41F9-8E61-41A53E5E10D1}" presName="linear" presStyleCnt="0">
        <dgm:presLayoutVars>
          <dgm:animLvl val="lvl"/>
          <dgm:resizeHandles val="exact"/>
        </dgm:presLayoutVars>
      </dgm:prSet>
      <dgm:spPr/>
    </dgm:pt>
    <dgm:pt modelId="{0504513B-80EC-9947-91DE-0C200F8C024C}" type="pres">
      <dgm:prSet presAssocID="{20EA8BE6-EFEB-46B4-B1F5-070F43F803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2347598-4092-FD44-997E-AF8A61547C27}" type="pres">
      <dgm:prSet presAssocID="{9A94D4D0-20E9-43F0-BFF5-2C4FDEC4741C}" presName="spacer" presStyleCnt="0"/>
      <dgm:spPr/>
    </dgm:pt>
    <dgm:pt modelId="{1C3F02E5-940E-094D-8FDF-BF79B0AF2F59}" type="pres">
      <dgm:prSet presAssocID="{A3E48EBF-631C-4715-9E37-7C94F362A3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B3316BB-DA04-3D47-9817-2F4CBB328E98}" type="pres">
      <dgm:prSet presAssocID="{5E5A4A65-778B-4F86-B1E6-4207D7F8246D}" presName="spacer" presStyleCnt="0"/>
      <dgm:spPr/>
    </dgm:pt>
    <dgm:pt modelId="{FCD796EE-83E2-6B44-B2E5-F05FE2C88438}" type="pres">
      <dgm:prSet presAssocID="{82C9B3AF-1985-4E36-9980-BFCE4293235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862B468-EBDD-E74B-845E-037ABB7DC90A}" type="pres">
      <dgm:prSet presAssocID="{B574C51B-BED8-478C-B1AB-783D25932305}" presName="spacer" presStyleCnt="0"/>
      <dgm:spPr/>
    </dgm:pt>
    <dgm:pt modelId="{0CFC329E-B874-8F4B-8536-2C1B22F8AD2F}" type="pres">
      <dgm:prSet presAssocID="{E3E3CC1D-1BE4-4B16-8769-6F93C279E97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325C2D6-0F4C-184A-8FBB-08307A18E807}" type="pres">
      <dgm:prSet presAssocID="{EFF733E9-8946-4EF5-A31A-F4CE11F7CC43}" presName="spacer" presStyleCnt="0"/>
      <dgm:spPr/>
    </dgm:pt>
    <dgm:pt modelId="{10BA4457-A41C-014A-AD43-BF9BDA46CC5C}" type="pres">
      <dgm:prSet presAssocID="{39F2242F-C7AA-42F2-9678-780AB2E78AA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E4F15F9-F468-0F44-8E86-4A64000A18DD}" type="pres">
      <dgm:prSet presAssocID="{1704CD76-BFA2-4ACF-BE78-1AE3FF7BC2C5}" presName="spacer" presStyleCnt="0"/>
      <dgm:spPr/>
    </dgm:pt>
    <dgm:pt modelId="{834067AE-FA09-5949-8C7D-0ECDF009DC6D}" type="pres">
      <dgm:prSet presAssocID="{CF09FB37-B346-46F6-A402-02F33614FFD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F418507-072C-7743-8A39-54EFD9EF68AE}" type="pres">
      <dgm:prSet presAssocID="{156C26F2-A417-4DB1-A200-203D9D188430}" presName="spacer" presStyleCnt="0"/>
      <dgm:spPr/>
    </dgm:pt>
    <dgm:pt modelId="{C3B1A05D-B578-3342-8256-38A5B12195CE}" type="pres">
      <dgm:prSet presAssocID="{C3CB4C75-F57F-4E89-ABD5-65957E09D75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6468401-ACC3-894B-9CD6-48E91A5B472D}" type="presOf" srcId="{39F2242F-C7AA-42F2-9678-780AB2E78AA4}" destId="{10BA4457-A41C-014A-AD43-BF9BDA46CC5C}" srcOrd="0" destOrd="0" presId="urn:microsoft.com/office/officeart/2005/8/layout/vList2"/>
    <dgm:cxn modelId="{37326B15-53DD-443C-8545-FA83FA0460D3}" srcId="{605FAC4F-CFCF-41F9-8E61-41A53E5E10D1}" destId="{39F2242F-C7AA-42F2-9678-780AB2E78AA4}" srcOrd="4" destOrd="0" parTransId="{83D17C6A-871C-4F88-9FA7-B4A1C0CE3371}" sibTransId="{1704CD76-BFA2-4ACF-BE78-1AE3FF7BC2C5}"/>
    <dgm:cxn modelId="{D24DAF2B-FDFB-4631-A62D-A4437E42C24B}" srcId="{605FAC4F-CFCF-41F9-8E61-41A53E5E10D1}" destId="{A3E48EBF-631C-4715-9E37-7C94F362A3B9}" srcOrd="1" destOrd="0" parTransId="{9EEC1078-F90C-4713-A659-CC0E9E84E7D7}" sibTransId="{5E5A4A65-778B-4F86-B1E6-4207D7F8246D}"/>
    <dgm:cxn modelId="{AD16612C-2D0E-834C-A9FE-AF5C5C9C7A18}" type="presOf" srcId="{82C9B3AF-1985-4E36-9980-BFCE4293235B}" destId="{FCD796EE-83E2-6B44-B2E5-F05FE2C88438}" srcOrd="0" destOrd="0" presId="urn:microsoft.com/office/officeart/2005/8/layout/vList2"/>
    <dgm:cxn modelId="{DEFF8E3D-6CE3-4C6C-8D53-C535B7C2D38C}" srcId="{605FAC4F-CFCF-41F9-8E61-41A53E5E10D1}" destId="{E3E3CC1D-1BE4-4B16-8769-6F93C279E979}" srcOrd="3" destOrd="0" parTransId="{F9E0DB3B-C204-45ED-AFB0-ABB4BCA7D0F7}" sibTransId="{EFF733E9-8946-4EF5-A31A-F4CE11F7CC43}"/>
    <dgm:cxn modelId="{C9C4E865-3D96-FE4D-B459-06F4CCA777DA}" type="presOf" srcId="{E3E3CC1D-1BE4-4B16-8769-6F93C279E979}" destId="{0CFC329E-B874-8F4B-8536-2C1B22F8AD2F}" srcOrd="0" destOrd="0" presId="urn:microsoft.com/office/officeart/2005/8/layout/vList2"/>
    <dgm:cxn modelId="{D2473D68-7538-4BBB-8902-88348224AD39}" srcId="{605FAC4F-CFCF-41F9-8E61-41A53E5E10D1}" destId="{20EA8BE6-EFEB-46B4-B1F5-070F43F80347}" srcOrd="0" destOrd="0" parTransId="{13D7C597-966C-428C-A7B9-393783F1AAB4}" sibTransId="{9A94D4D0-20E9-43F0-BFF5-2C4FDEC4741C}"/>
    <dgm:cxn modelId="{0BC99C7C-6E0B-1D47-9176-B28D1150AFB6}" type="presOf" srcId="{C3CB4C75-F57F-4E89-ABD5-65957E09D75B}" destId="{C3B1A05D-B578-3342-8256-38A5B12195CE}" srcOrd="0" destOrd="0" presId="urn:microsoft.com/office/officeart/2005/8/layout/vList2"/>
    <dgm:cxn modelId="{4B4B557D-5332-2542-8518-C8DA97EB5E11}" type="presOf" srcId="{605FAC4F-CFCF-41F9-8E61-41A53E5E10D1}" destId="{7CC5BF2E-2510-EB45-BB3C-569738FFD298}" srcOrd="0" destOrd="0" presId="urn:microsoft.com/office/officeart/2005/8/layout/vList2"/>
    <dgm:cxn modelId="{A3A7FB85-D4E4-4301-8926-92AAB3CB1AF9}" srcId="{605FAC4F-CFCF-41F9-8E61-41A53E5E10D1}" destId="{CF09FB37-B346-46F6-A402-02F33614FFD0}" srcOrd="5" destOrd="0" parTransId="{30436487-E468-46F7-9C28-7C9C42A0848C}" sibTransId="{156C26F2-A417-4DB1-A200-203D9D188430}"/>
    <dgm:cxn modelId="{85D380A9-5C1D-45F8-92C0-87AC666483DE}" srcId="{605FAC4F-CFCF-41F9-8E61-41A53E5E10D1}" destId="{C3CB4C75-F57F-4E89-ABD5-65957E09D75B}" srcOrd="6" destOrd="0" parTransId="{28D8D5B8-5C53-4F86-850D-1781F41DC98A}" sibTransId="{5DB623A9-44D8-43E1-B318-FBE2AD3425E8}"/>
    <dgm:cxn modelId="{E6ADEBB4-20CE-184D-A55D-FF53F21FC755}" type="presOf" srcId="{A3E48EBF-631C-4715-9E37-7C94F362A3B9}" destId="{1C3F02E5-940E-094D-8FDF-BF79B0AF2F59}" srcOrd="0" destOrd="0" presId="urn:microsoft.com/office/officeart/2005/8/layout/vList2"/>
    <dgm:cxn modelId="{18B889B6-A514-464B-972C-D72A96643802}" type="presOf" srcId="{20EA8BE6-EFEB-46B4-B1F5-070F43F80347}" destId="{0504513B-80EC-9947-91DE-0C200F8C024C}" srcOrd="0" destOrd="0" presId="urn:microsoft.com/office/officeart/2005/8/layout/vList2"/>
    <dgm:cxn modelId="{114164E0-D1EE-4E70-99F3-0268691B7364}" srcId="{605FAC4F-CFCF-41F9-8E61-41A53E5E10D1}" destId="{82C9B3AF-1985-4E36-9980-BFCE4293235B}" srcOrd="2" destOrd="0" parTransId="{CFE93812-AA9D-4F2C-8329-9B5A6CC9E95D}" sibTransId="{B574C51B-BED8-478C-B1AB-783D25932305}"/>
    <dgm:cxn modelId="{8F1CE8EC-8C9F-2946-BB3F-EDD53EBED36A}" type="presOf" srcId="{CF09FB37-B346-46F6-A402-02F33614FFD0}" destId="{834067AE-FA09-5949-8C7D-0ECDF009DC6D}" srcOrd="0" destOrd="0" presId="urn:microsoft.com/office/officeart/2005/8/layout/vList2"/>
    <dgm:cxn modelId="{24B3292A-9856-5247-9F40-435B37D0EA09}" type="presParOf" srcId="{7CC5BF2E-2510-EB45-BB3C-569738FFD298}" destId="{0504513B-80EC-9947-91DE-0C200F8C024C}" srcOrd="0" destOrd="0" presId="urn:microsoft.com/office/officeart/2005/8/layout/vList2"/>
    <dgm:cxn modelId="{BEE59EFE-D866-B749-B62B-C03E15F5B786}" type="presParOf" srcId="{7CC5BF2E-2510-EB45-BB3C-569738FFD298}" destId="{82347598-4092-FD44-997E-AF8A61547C27}" srcOrd="1" destOrd="0" presId="urn:microsoft.com/office/officeart/2005/8/layout/vList2"/>
    <dgm:cxn modelId="{EE1AEB6C-516C-9141-ADFF-8E8D48D673E9}" type="presParOf" srcId="{7CC5BF2E-2510-EB45-BB3C-569738FFD298}" destId="{1C3F02E5-940E-094D-8FDF-BF79B0AF2F59}" srcOrd="2" destOrd="0" presId="urn:microsoft.com/office/officeart/2005/8/layout/vList2"/>
    <dgm:cxn modelId="{D8DC063C-84D0-C64F-8247-1BE2976D6C58}" type="presParOf" srcId="{7CC5BF2E-2510-EB45-BB3C-569738FFD298}" destId="{5B3316BB-DA04-3D47-9817-2F4CBB328E98}" srcOrd="3" destOrd="0" presId="urn:microsoft.com/office/officeart/2005/8/layout/vList2"/>
    <dgm:cxn modelId="{25ED9AC0-46E7-9448-916D-0DA5F6F8228C}" type="presParOf" srcId="{7CC5BF2E-2510-EB45-BB3C-569738FFD298}" destId="{FCD796EE-83E2-6B44-B2E5-F05FE2C88438}" srcOrd="4" destOrd="0" presId="urn:microsoft.com/office/officeart/2005/8/layout/vList2"/>
    <dgm:cxn modelId="{96587E8F-B4A6-5846-BE0D-3FEA2C49F807}" type="presParOf" srcId="{7CC5BF2E-2510-EB45-BB3C-569738FFD298}" destId="{8862B468-EBDD-E74B-845E-037ABB7DC90A}" srcOrd="5" destOrd="0" presId="urn:microsoft.com/office/officeart/2005/8/layout/vList2"/>
    <dgm:cxn modelId="{15BB9885-DA7D-9F41-BF44-99CE8990D8D3}" type="presParOf" srcId="{7CC5BF2E-2510-EB45-BB3C-569738FFD298}" destId="{0CFC329E-B874-8F4B-8536-2C1B22F8AD2F}" srcOrd="6" destOrd="0" presId="urn:microsoft.com/office/officeart/2005/8/layout/vList2"/>
    <dgm:cxn modelId="{E4006F87-4077-6346-A7E5-95B3FA4B2596}" type="presParOf" srcId="{7CC5BF2E-2510-EB45-BB3C-569738FFD298}" destId="{C325C2D6-0F4C-184A-8FBB-08307A18E807}" srcOrd="7" destOrd="0" presId="urn:microsoft.com/office/officeart/2005/8/layout/vList2"/>
    <dgm:cxn modelId="{E8B29F56-F796-6A4A-93C2-AEAEA6E3A0B2}" type="presParOf" srcId="{7CC5BF2E-2510-EB45-BB3C-569738FFD298}" destId="{10BA4457-A41C-014A-AD43-BF9BDA46CC5C}" srcOrd="8" destOrd="0" presId="urn:microsoft.com/office/officeart/2005/8/layout/vList2"/>
    <dgm:cxn modelId="{A0E37678-EA25-554F-A48D-420CADC1FACF}" type="presParOf" srcId="{7CC5BF2E-2510-EB45-BB3C-569738FFD298}" destId="{8E4F15F9-F468-0F44-8E86-4A64000A18DD}" srcOrd="9" destOrd="0" presId="urn:microsoft.com/office/officeart/2005/8/layout/vList2"/>
    <dgm:cxn modelId="{40909D50-1F9A-6343-A547-607B31ED76DE}" type="presParOf" srcId="{7CC5BF2E-2510-EB45-BB3C-569738FFD298}" destId="{834067AE-FA09-5949-8C7D-0ECDF009DC6D}" srcOrd="10" destOrd="0" presId="urn:microsoft.com/office/officeart/2005/8/layout/vList2"/>
    <dgm:cxn modelId="{360175BB-4521-5745-B515-276B915A1FD7}" type="presParOf" srcId="{7CC5BF2E-2510-EB45-BB3C-569738FFD298}" destId="{5F418507-072C-7743-8A39-54EFD9EF68AE}" srcOrd="11" destOrd="0" presId="urn:microsoft.com/office/officeart/2005/8/layout/vList2"/>
    <dgm:cxn modelId="{64FE9314-6F50-8C47-9E82-7CCBDC2E4CC3}" type="presParOf" srcId="{7CC5BF2E-2510-EB45-BB3C-569738FFD298}" destId="{C3B1A05D-B578-3342-8256-38A5B12195C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4513B-80EC-9947-91DE-0C200F8C024C}">
      <dsp:nvSpPr>
        <dsp:cNvPr id="0" name=""/>
        <dsp:cNvSpPr/>
      </dsp:nvSpPr>
      <dsp:spPr>
        <a:xfrm>
          <a:off x="0" y="144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Satisfacción y bienestar subjetivo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40819"/>
        <a:ext cx="10875055" cy="487766"/>
      </dsp:txXfrm>
    </dsp:sp>
    <dsp:sp modelId="{1C3F02E5-940E-094D-8FDF-BF79B0AF2F59}">
      <dsp:nvSpPr>
        <dsp:cNvPr id="0" name=""/>
        <dsp:cNvSpPr/>
      </dsp:nvSpPr>
      <dsp:spPr>
        <a:xfrm>
          <a:off x="0" y="6183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Opiniones sobre democracia, gobierno y economía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644719"/>
        <a:ext cx="10875055" cy="487766"/>
      </dsp:txXfrm>
    </dsp:sp>
    <dsp:sp modelId="{FCD796EE-83E2-6B44-B2E5-F05FE2C88438}">
      <dsp:nvSpPr>
        <dsp:cNvPr id="0" name=""/>
        <dsp:cNvSpPr/>
      </dsp:nvSpPr>
      <dsp:spPr>
        <a:xfrm>
          <a:off x="0" y="12222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>
              <a:solidFill>
                <a:schemeClr val="tx1"/>
              </a:solidFill>
            </a:rPr>
            <a:t>Relaciones internacionales y globalización</a:t>
          </a:r>
          <a:endParaRPr lang="en-US" sz="2200" kern="1200">
            <a:solidFill>
              <a:schemeClr val="tx1"/>
            </a:solidFill>
          </a:endParaRPr>
        </a:p>
      </dsp:txBody>
      <dsp:txXfrm>
        <a:off x="26387" y="1248619"/>
        <a:ext cx="10875055" cy="487766"/>
      </dsp:txXfrm>
    </dsp:sp>
    <dsp:sp modelId="{0CFC329E-B874-8F4B-8536-2C1B22F8AD2F}">
      <dsp:nvSpPr>
        <dsp:cNvPr id="0" name=""/>
        <dsp:cNvSpPr/>
      </dsp:nvSpPr>
      <dsp:spPr>
        <a:xfrm>
          <a:off x="0" y="18261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>
              <a:solidFill>
                <a:schemeClr val="tx1"/>
              </a:solidFill>
            </a:rPr>
            <a:t>Cambio climático y medio ambiente</a:t>
          </a:r>
          <a:endParaRPr lang="en-US" sz="2200" kern="1200">
            <a:solidFill>
              <a:schemeClr val="tx1"/>
            </a:solidFill>
          </a:endParaRPr>
        </a:p>
      </dsp:txBody>
      <dsp:txXfrm>
        <a:off x="26387" y="1852519"/>
        <a:ext cx="10875055" cy="487766"/>
      </dsp:txXfrm>
    </dsp:sp>
    <dsp:sp modelId="{10BA4457-A41C-014A-AD43-BF9BDA46CC5C}">
      <dsp:nvSpPr>
        <dsp:cNvPr id="0" name=""/>
        <dsp:cNvSpPr/>
      </dsp:nvSpPr>
      <dsp:spPr>
        <a:xfrm>
          <a:off x="0" y="24300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Juventud y valores sociales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2456419"/>
        <a:ext cx="10875055" cy="487766"/>
      </dsp:txXfrm>
    </dsp:sp>
    <dsp:sp modelId="{834067AE-FA09-5949-8C7D-0ECDF009DC6D}">
      <dsp:nvSpPr>
        <dsp:cNvPr id="0" name=""/>
        <dsp:cNvSpPr/>
      </dsp:nvSpPr>
      <dsp:spPr>
        <a:xfrm>
          <a:off x="0" y="30339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Seguridad, corrupción y violencia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3060319"/>
        <a:ext cx="10875055" cy="487766"/>
      </dsp:txXfrm>
    </dsp:sp>
    <dsp:sp modelId="{C3B1A05D-B578-3342-8256-38A5B12195CE}">
      <dsp:nvSpPr>
        <dsp:cNvPr id="0" name=""/>
        <dsp:cNvSpPr/>
      </dsp:nvSpPr>
      <dsp:spPr>
        <a:xfrm>
          <a:off x="0" y="36378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>
              <a:solidFill>
                <a:schemeClr val="tx1"/>
              </a:solidFill>
            </a:rPr>
            <a:t>Sociodemográficas</a:t>
          </a:r>
          <a:endParaRPr lang="en-US" sz="2200" kern="1200">
            <a:solidFill>
              <a:schemeClr val="tx1"/>
            </a:solidFill>
          </a:endParaRPr>
        </a:p>
      </dsp:txBody>
      <dsp:txXfrm>
        <a:off x="26387" y="3664219"/>
        <a:ext cx="10875055" cy="487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0F4C7-C62E-3B9B-3F64-7A090A46E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25281A-E4CD-67A7-7304-568B933FC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13E3E7-6AA4-0C5D-BB4B-A5BE933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6D13D5-D7DF-2361-8313-A5977EAA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EF8870-1547-6096-BD20-6E68BC9D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9573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78A22-63E3-DE16-B859-6857B265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4E9382-06CB-1B91-3947-AD57EF83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133278-DE73-96BA-33EA-5F22257B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F59700-5992-45EA-9FDE-6543D5F0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AF226-9E4B-7F3F-06D0-B6E9C183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748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67C8B-FA93-CE79-AA28-5C577EDE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B4E19D-6E21-837F-A8F3-6129D670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2A9BF-6CC9-AAAE-7CD1-0AF2BF92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92062-568C-3F3D-B12F-96BC9B23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D6A457-C502-1F91-C0D8-35CE5D60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3361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778-29F5-3487-5684-7832BB57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934FD-84CF-B356-2D3F-AF2F5CB65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475802-7036-C213-37E9-EBA19EDAA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B65F4E-9E23-E9B0-BE5E-7B8BDF12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FAD6D5-C94B-9788-2EB5-EF7EE335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B904D8-3AAB-452E-8F2F-C8B6C07D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8294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555B2-F644-4FC0-8FBC-82C965DC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7297A6-7C91-A184-6D35-0020551FD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50BAE6-14F2-4166-B523-C4F4E18B3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2485776-F56A-4C35-E237-8F6689CD1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3F0795-26FB-24EA-8FCC-4D9362B91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5BDFC4-C137-1BBF-C7F2-3EC8DF90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43E65B-9686-BBB8-6343-4CE41F18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0BE85F-22F2-D8FA-C77E-D232DABD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1039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333E7-DB2A-C3AC-B02D-FD47C216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7429B30-F2BE-8241-12A8-8279F7AE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A94248-C0C5-1E32-37C6-F03F2DEB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FB9DA0-F7D2-58DB-A2E8-3C684C7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66231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1EDB50-4E0A-5944-B848-A5510989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B4EFB8-AE5B-B373-5A43-3AA1CD76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5E214F-8DC0-D4C9-0899-D2A50512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8490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77BA5-9103-99AA-2810-635976AC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DB37B-B00E-FB1C-8512-2772300B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6F4DD9-1DB6-A9DB-D047-0CDA1617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DE7E47-111D-C56C-D889-4AFA67BB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6C7DFD-7740-6AA0-A92B-330A2EBE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0DCF40-BD80-9CBF-195A-8FEE3A43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3641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69D67-3726-30E6-84C7-731468A6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0994B0-08F1-F13D-A9D6-A87B08B59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C26E88-A76A-A62A-65BA-AEC4DF79C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F3CFAA-C08A-6FFF-6567-8AA1F2D5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173738-7409-E080-FC83-44F7775E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D95182-888E-1774-39BD-CA3F6C13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6610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F14E7-7FD0-503E-05F1-F19A8DEE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D153E5-D785-B5DE-1FB2-58137E51D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34E921-558A-5A09-22D7-2A03D20B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0F90FA-0707-6D98-501F-8C74197A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62BB17-1643-AE6A-4DCC-E07D1CA5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7756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7A99E5-5C3A-493E-EC2B-DB344F77D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27692E-8C1A-2816-8F73-0771274E8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0B89-6F11-F0C3-67A2-48669AC6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C1ACC-DC64-6F37-36EF-CAC6306D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25FF47-5C6D-FEF5-77DD-53577026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93562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218843-6FA0-22AC-EBE8-FFB2A4A6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F83F3A-D962-38A3-FD18-BEB1344B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00EE3E-B7F7-B116-0A90-3FB9DB025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B2616-8F13-7344-9DC7-35A2637D875E}" type="datetimeFigureOut">
              <a:rPr lang="es-HN" smtClean="0"/>
              <a:t>4/11/25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48751E-C4AC-F061-99FE-73BB200F5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E11BE0-F887-CD01-D4AB-3BEC6AEA6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3122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1531-8078-1E48-4AFF-F373CFAC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2438"/>
            <a:ext cx="9319709" cy="1925619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br>
              <a:rPr lang="es-HN" sz="3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Maestría en Economía Aplicada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Taller de Programación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Docente: Noelia Romero</a:t>
            </a:r>
            <a:endParaRPr lang="es-HN" sz="3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26CBB-B4DD-6AAC-5528-47088AA4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209"/>
            <a:ext cx="9144000" cy="2159327"/>
          </a:xfrm>
        </p:spPr>
        <p:txBody>
          <a:bodyPr>
            <a:normAutofit/>
          </a:bodyPr>
          <a:lstStyle/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Presentación 1: Latinobarómetro 2024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Grupo # 5: Camissi, Andrés // Porco, Matías // Pineda, David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Noviembre,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4AF4C-2431-4B2E-CD0B-26CF7487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76" y="381768"/>
            <a:ext cx="5570447" cy="148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8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9EEEE6-0C94-41C1-E644-7A46297A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Fuente</a:t>
            </a:r>
            <a:r>
              <a:rPr lang="es-HN" sz="4000">
                <a:solidFill>
                  <a:srgbClr val="FFFFFF"/>
                </a:solidFill>
              </a:rPr>
              <a:t> de información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192D402-ACBD-7760-92D6-CF2D8A36D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534941"/>
              </p:ext>
            </p:extLst>
          </p:nvPr>
        </p:nvGraphicFramePr>
        <p:xfrm>
          <a:off x="644056" y="2161124"/>
          <a:ext cx="10927830" cy="409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9257">
                  <a:extLst>
                    <a:ext uri="{9D8B030D-6E8A-4147-A177-3AD203B41FA5}">
                      <a16:colId xmlns:a16="http://schemas.microsoft.com/office/drawing/2014/main" val="1328286089"/>
                    </a:ext>
                  </a:extLst>
                </a:gridCol>
                <a:gridCol w="7958573">
                  <a:extLst>
                    <a:ext uri="{9D8B030D-6E8A-4147-A177-3AD203B41FA5}">
                      <a16:colId xmlns:a16="http://schemas.microsoft.com/office/drawing/2014/main" val="2053498449"/>
                    </a:ext>
                  </a:extLst>
                </a:gridCol>
              </a:tblGrid>
              <a:tr h="7566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Institución responsable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Corporación Latinobarómetro (Chile)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3884454313"/>
                  </a:ext>
                </a:extLst>
              </a:tr>
              <a:tr h="7566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 de estudio: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Encuesta de opinión pública sobre democracia, política, economía, sociedad y cultura cívica.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2185851419"/>
                  </a:ext>
                </a:extLst>
              </a:tr>
              <a:tr h="44396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Año de aplicación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2024 (última ronda disponible)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1068265707"/>
                  </a:ext>
                </a:extLst>
              </a:tr>
              <a:tr h="13819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Cobertura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 países de América Latina: Argentina, Bolivia, Brasil, Chile, Colombia, Costa Rica, Rep. Dominicana, Ecuador, El Salvador, Guatemala, Honduras, México, Panamá, Paraguay, Perú, Uruguay, Venezuela.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491579176"/>
                  </a:ext>
                </a:extLst>
              </a:tr>
              <a:tr h="7566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Objetivo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Medir percepciones ciudadanas sobre democracia, economía, política, sociedad, medioambiente, seguridad, religión y bienestar.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4244471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52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3E9153-9C78-B3B6-EB57-2B644DB3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Nivel</a:t>
            </a:r>
            <a:r>
              <a:rPr lang="es-HN" sz="4000">
                <a:solidFill>
                  <a:srgbClr val="FFFFFF"/>
                </a:solidFill>
              </a:rPr>
              <a:t> y representatividad de la base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2EEF733-8839-AE10-251C-BAE6E66C3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026398"/>
              </p:ext>
            </p:extLst>
          </p:nvPr>
        </p:nvGraphicFramePr>
        <p:xfrm>
          <a:off x="766614" y="1981950"/>
          <a:ext cx="10649006" cy="44695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7215">
                  <a:extLst>
                    <a:ext uri="{9D8B030D-6E8A-4147-A177-3AD203B41FA5}">
                      <a16:colId xmlns:a16="http://schemas.microsoft.com/office/drawing/2014/main" val="230497328"/>
                    </a:ext>
                  </a:extLst>
                </a:gridCol>
                <a:gridCol w="8091791">
                  <a:extLst>
                    <a:ext uri="{9D8B030D-6E8A-4147-A177-3AD203B41FA5}">
                      <a16:colId xmlns:a16="http://schemas.microsoft.com/office/drawing/2014/main" val="4086479531"/>
                    </a:ext>
                  </a:extLst>
                </a:gridCol>
              </a:tblGrid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Nivel de análisis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Individual, con variables sociodemográficas del entrevistado (edad, sexo, educación, ocupación, etnia, clase social percibida, etc.)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744035285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Unidad de observación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Personas encuestadas mayores de 18 años (Brasil 16 años o más).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3375888517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Representatividad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Nacional en cada país. El muestreo es probabilístico, el diseño estratificado y ponderado. Nivel de confianza de 95%, margen de error de las muestras de +/- 2.8 y +/- 3.1.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2887417712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Periodicidad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Anual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486804062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Modo de recolección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Entrevistas cara a cara en hogares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798203379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Tamaño muestral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19,214 observaciones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623773430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de variables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332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49267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43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4017E7-E2D8-70E4-147D-A6889EF6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Estructura y bloques temáticos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4A90D40-F898-FBD0-AB5F-76C2CB122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6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29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3FDC58-E018-0134-3ECB-AF88B096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Limpieza y tratamiento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3A2188F-7AE0-A377-BE38-F2E261BA1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94109"/>
              </p:ext>
            </p:extLst>
          </p:nvPr>
        </p:nvGraphicFramePr>
        <p:xfrm>
          <a:off x="937584" y="2112579"/>
          <a:ext cx="10340773" cy="3933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5470">
                  <a:extLst>
                    <a:ext uri="{9D8B030D-6E8A-4147-A177-3AD203B41FA5}">
                      <a16:colId xmlns:a16="http://schemas.microsoft.com/office/drawing/2014/main" val="3155146784"/>
                    </a:ext>
                  </a:extLst>
                </a:gridCol>
                <a:gridCol w="7685303">
                  <a:extLst>
                    <a:ext uri="{9D8B030D-6E8A-4147-A177-3AD203B41FA5}">
                      <a16:colId xmlns:a16="http://schemas.microsoft.com/office/drawing/2014/main" val="1632529718"/>
                    </a:ext>
                  </a:extLst>
                </a:gridCol>
              </a:tblGrid>
              <a:tr h="916076">
                <a:tc>
                  <a:txBody>
                    <a:bodyPr/>
                    <a:lstStyle/>
                    <a:p>
                      <a:r>
                        <a:rPr lang="es-HN" sz="1800" b="1"/>
                        <a:t>1. Carga y exploración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/>
                        <a:t>Lectura de la base </a:t>
                      </a:r>
                      <a:r>
                        <a:rPr lang="es-HN" sz="1700" b="1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/>
                        <a:t> normalización de nombres de columnas (minúsculas, sin columnas ni espacios) </a:t>
                      </a:r>
                      <a:r>
                        <a:rPr lang="es-HN" sz="1700" b="1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/>
                        <a:t> Verificación de dimensiones (19,214 observaciones y 332 variables)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4094681880"/>
                  </a:ext>
                </a:extLst>
              </a:tr>
              <a:tr h="916076">
                <a:tc>
                  <a:txBody>
                    <a:bodyPr/>
                    <a:lstStyle/>
                    <a:p>
                      <a:r>
                        <a:rPr lang="es-HN" sz="1800" b="1"/>
                        <a:t>2. Estandarización de variables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/>
                        <a:t>Selección de variables relevantes (43) </a:t>
                      </a:r>
                      <a:r>
                        <a:rPr lang="es-HN" sz="1700" b="1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/>
                        <a:t> Reemplazo de códigos de no respuesta (8, 9, 97, 98, 99) y valores negativos por NaN </a:t>
                      </a:r>
                      <a:r>
                        <a:rPr lang="es-HN" sz="1700" b="1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/>
                        <a:t> Conservación de ceros (0) solo en escalas válidas.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3728650735"/>
                  </a:ext>
                </a:extLst>
              </a:tr>
              <a:tr h="1089848">
                <a:tc>
                  <a:txBody>
                    <a:bodyPr/>
                    <a:lstStyle/>
                    <a:p>
                      <a:r>
                        <a:rPr lang="es-HN" sz="1800" b="1" dirty="0"/>
                        <a:t>3. Construcción,  renombre de variables y asignación de etiquetas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 dirty="0"/>
                        <a:t>Creación de indicadores (ej: actitudes ambientales)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renombrado de preguntas y etiquetas siguiendo el cuestionario oficial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Definición de variables numéricas y categóricas finales.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3765459378"/>
                  </a:ext>
                </a:extLst>
              </a:tr>
              <a:tr h="916076">
                <a:tc>
                  <a:txBody>
                    <a:bodyPr/>
                    <a:lstStyle/>
                    <a:p>
                      <a:r>
                        <a:rPr lang="es-HN" sz="1800" b="1" dirty="0"/>
                        <a:t>4. Generación de base final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 dirty="0"/>
                        <a:t>Integración final (una columna por variable con nombre y etiqueta). En total se obtuvieron 19,214 registros y 43 variables finales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Exportaciónn de la base de datos en formato csv.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1024087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90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5F2A97-2D57-78BD-4350-DE60FA9C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Variables de interés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E118F38-7064-4A6D-E0E7-A94A3EBCC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135690"/>
              </p:ext>
            </p:extLst>
          </p:nvPr>
        </p:nvGraphicFramePr>
        <p:xfrm>
          <a:off x="487790" y="1739020"/>
          <a:ext cx="10927830" cy="49554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64975">
                  <a:extLst>
                    <a:ext uri="{9D8B030D-6E8A-4147-A177-3AD203B41FA5}">
                      <a16:colId xmlns:a16="http://schemas.microsoft.com/office/drawing/2014/main" val="3728294714"/>
                    </a:ext>
                  </a:extLst>
                </a:gridCol>
                <a:gridCol w="7762855">
                  <a:extLst>
                    <a:ext uri="{9D8B030D-6E8A-4147-A177-3AD203B41FA5}">
                      <a16:colId xmlns:a16="http://schemas.microsoft.com/office/drawing/2014/main" val="380839826"/>
                    </a:ext>
                  </a:extLst>
                </a:gridCol>
              </a:tblGrid>
              <a:tr h="382419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Satisfacción y bienestar subjetivo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Satisfacción con la vida, satisfacción con la democracia.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940940707"/>
                  </a:ext>
                </a:extLst>
              </a:tr>
              <a:tr h="643158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Evaluación económica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Evaluación de la situación económica, percepción de progreso o retroceso del país, percepción del futuro económico.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2618834641"/>
                  </a:ext>
                </a:extLst>
              </a:tr>
              <a:tr h="643158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Confianza y percepciones democráticas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Confianza interpesonal, preferencia democracia / autoritarismo, nivel percibido de democracia, elecciones limpias y percepción del poder.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3094361833"/>
                  </a:ext>
                </a:extLst>
              </a:tr>
              <a:tr h="382419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Ideología y justicia distributiva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Autoposición ideológica, percepción de justificia distributiva.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1035411145"/>
                  </a:ext>
                </a:extLst>
              </a:tr>
              <a:tr h="643158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Percepciones sobre migración y medioambiente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Opiniones sobre inmigración (económico, laboral, criminalidad), percepción del cambio climático, actitudes ambientales.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4220320650"/>
                  </a:ext>
                </a:extLst>
              </a:tr>
              <a:tr h="382419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Seguridad, corrupción y poder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Percepción del aumento de delincuencia, drogadicción y corrupción.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449438595"/>
                  </a:ext>
                </a:extLst>
              </a:tr>
              <a:tr h="903899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Sociodemográficas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Edad, sexo, país, religión, etnia, clase social autopercibida, suficiencia de ingresos, nivel educativo, ocupación.</a:t>
                      </a:r>
                    </a:p>
                    <a:p>
                      <a:pPr algn="just"/>
                      <a:endParaRPr lang="es-H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1385155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86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1801E2-620D-EA05-8A2C-93B4B885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Ideas para el trabajo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5B340-A7C6-FFC4-E809-BE7DF77C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HN" sz="3200" dirty="0"/>
              <a:t>“Caracterización y predicción de actitudes democráticas en América Latina (2024)”</a:t>
            </a:r>
          </a:p>
          <a:p>
            <a:pPr marL="0" indent="0" algn="just">
              <a:buNone/>
            </a:pPr>
            <a:endParaRPr lang="es-HN" sz="3200" dirty="0"/>
          </a:p>
          <a:p>
            <a:pPr algn="just"/>
            <a:r>
              <a:rPr lang="es-HN" sz="3200" dirty="0"/>
              <a:t>Etapa 1: PCA &gt;&gt; Índice de actitudes</a:t>
            </a:r>
          </a:p>
          <a:p>
            <a:pPr algn="just"/>
            <a:r>
              <a:rPr lang="es-HN" sz="3200" dirty="0"/>
              <a:t>Etapa 2: Clustering &gt;&gt; Perfiles ciudadanos</a:t>
            </a:r>
          </a:p>
          <a:p>
            <a:pPr algn="just"/>
            <a:r>
              <a:rPr lang="es-HN" sz="3200" dirty="0"/>
              <a:t>Etapa 3 &gt;&gt; Clasificación &gt;&gt; Predicción del perfil</a:t>
            </a:r>
          </a:p>
        </p:txBody>
      </p:sp>
    </p:spTree>
    <p:extLst>
      <p:ext uri="{BB962C8B-B14F-4D97-AF65-F5344CB8AC3E}">
        <p14:creationId xmlns:p14="http://schemas.microsoft.com/office/powerpoint/2010/main" val="2227868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623</Words>
  <Application>Microsoft Macintosh PowerPoint</Application>
  <PresentationFormat>Panorámica</PresentationFormat>
  <Paragraphs>70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Tema de Office</vt:lpstr>
      <vt:lpstr> Maestría en Economía Aplicada  Taller de Programación  Docente: Noelia Romero</vt:lpstr>
      <vt:lpstr>Fuente de información</vt:lpstr>
      <vt:lpstr>Nivel y representatividad de la base de datos</vt:lpstr>
      <vt:lpstr>Estructura y bloques temáticos</vt:lpstr>
      <vt:lpstr>Limpieza y tratamiento</vt:lpstr>
      <vt:lpstr>Variables de interés</vt:lpstr>
      <vt:lpstr>Ideas para el trabajo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Josue Pineda Talavera</dc:creator>
  <cp:lastModifiedBy>David Josue Pineda Talavera</cp:lastModifiedBy>
  <cp:revision>24</cp:revision>
  <dcterms:created xsi:type="dcterms:W3CDTF">2025-11-02T18:59:04Z</dcterms:created>
  <dcterms:modified xsi:type="dcterms:W3CDTF">2025-11-04T17:00:16Z</dcterms:modified>
</cp:coreProperties>
</file>