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68" r:id="rId2"/>
    <p:sldId id="279" r:id="rId3"/>
    <p:sldId id="275" r:id="rId4"/>
    <p:sldId id="277" r:id="rId5"/>
    <p:sldId id="280" r:id="rId6"/>
    <p:sldId id="281" r:id="rId7"/>
    <p:sldId id="291" r:id="rId8"/>
    <p:sldId id="282" r:id="rId9"/>
    <p:sldId id="283" r:id="rId10"/>
    <p:sldId id="269" r:id="rId11"/>
    <p:sldId id="270" r:id="rId12"/>
    <p:sldId id="284" r:id="rId13"/>
    <p:sldId id="272" r:id="rId14"/>
    <p:sldId id="285" r:id="rId15"/>
    <p:sldId id="286" r:id="rId16"/>
    <p:sldId id="287" r:id="rId17"/>
    <p:sldId id="288" r:id="rId18"/>
    <p:sldId id="260" r:id="rId19"/>
    <p:sldId id="262" r:id="rId20"/>
    <p:sldId id="263" r:id="rId21"/>
    <p:sldId id="264" r:id="rId22"/>
    <p:sldId id="265" r:id="rId23"/>
    <p:sldId id="266" r:id="rId24"/>
    <p:sldId id="274" r:id="rId25"/>
    <p:sldId id="289" r:id="rId26"/>
    <p:sldId id="29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0"/>
    <p:restoredTop sz="94687"/>
  </p:normalViewPr>
  <p:slideViewPr>
    <p:cSldViewPr snapToGrid="0">
      <p:cViewPr varScale="1">
        <p:scale>
          <a:sx n="79" d="100"/>
          <a:sy n="79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80804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24046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99052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63508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7573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1029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84874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83921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37555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22053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17B20-5033-2E40-95B7-4F73F2B1D626}" type="datetimeFigureOut">
              <a:rPr lang="es-HN" smtClean="0"/>
              <a:t>9/12/2025</a:t>
            </a:fld>
            <a:endParaRPr lang="es-H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12F4E-E42E-1A4D-85FE-5B625FCCFFC2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22036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61531-8078-1E48-4AFF-F373CFACD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2438"/>
            <a:ext cx="9319709" cy="1925619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br>
              <a:rPr lang="es-HN" sz="3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Maestría en Economía Aplicada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Taller de Programación</a:t>
            </a: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s-HN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Docente: Noelia Romero</a:t>
            </a:r>
            <a:endParaRPr lang="es-HN" sz="3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B26CBB-B4DD-6AAC-5528-47088AA45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8209"/>
            <a:ext cx="9144000" cy="2159327"/>
          </a:xfrm>
        </p:spPr>
        <p:txBody>
          <a:bodyPr>
            <a:normAutofit fontScale="92500" lnSpcReduction="10000"/>
          </a:bodyPr>
          <a:lstStyle/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“Identificación de perfiles políticos en América Latina (2024): un enfoque de LASSO y K – Medias.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Grupo # 5: Cammisi, Andrés // Porco, Matías // Pineda, David</a:t>
            </a:r>
          </a:p>
          <a:p>
            <a:endParaRPr lang="es-HN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HN" sz="2200" dirty="0">
                <a:latin typeface="Segoe UI" panose="020B0502040204020203" pitchFamily="34" charset="0"/>
                <a:cs typeface="Segoe UI" panose="020B0502040204020203" pitchFamily="34" charset="0"/>
              </a:rPr>
              <a:t>Diciembre, 2025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E4AF4C-2431-4B2E-CD0B-26CF7487A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776" y="381768"/>
            <a:ext cx="5570447" cy="1481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982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32961-D5A3-4A32-45C0-4866C1A4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B5F07-F61F-91E0-9868-3A0B8EF6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0598"/>
            <a:ext cx="10515600" cy="1325563"/>
          </a:xfrm>
        </p:spPr>
        <p:txBody>
          <a:bodyPr/>
          <a:lstStyle/>
          <a:p>
            <a:r>
              <a:rPr lang="es-HN" b="1" dirty="0"/>
              <a:t>Motivación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D86B00-6AA8-9916-AB31-07BF121EB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6161"/>
            <a:ext cx="10515600" cy="2110801"/>
          </a:xfrm>
        </p:spPr>
        <p:txBody>
          <a:bodyPr>
            <a:normAutofit/>
          </a:bodyPr>
          <a:lstStyle/>
          <a:p>
            <a:pPr algn="just"/>
            <a:r>
              <a:rPr lang="es-ES" sz="2400" dirty="0"/>
              <a:t>En la región se observan retrocesos democráticos, aumento del descontento ciudadano, caída en la confianza institucional y polarización creciente.</a:t>
            </a:r>
          </a:p>
          <a:p>
            <a:pPr algn="just"/>
            <a:r>
              <a:rPr lang="es-ES" sz="2400" dirty="0"/>
              <a:t>Comprender la configuración de actitudes políticas permite anticipar riesgos, demandas diferenciadas y posibles tensiones en la legitimidad democrática.</a:t>
            </a:r>
            <a:endParaRPr lang="es-HN" sz="2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B1A35EC-9899-8B01-B5B5-B0B19607D80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HN" b="1"/>
              <a:t>Pregunta de investigación</a:t>
            </a:r>
            <a:endParaRPr lang="es-HN" b="1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9F9EEEB-37D6-605C-2ADA-9A4D8094AA0D}"/>
              </a:ext>
            </a:extLst>
          </p:cNvPr>
          <p:cNvSpPr txBox="1">
            <a:spLocks/>
          </p:cNvSpPr>
          <p:nvPr/>
        </p:nvSpPr>
        <p:spPr>
          <a:xfrm>
            <a:off x="838200" y="15528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¿Cómo se estructuran las actitudes políticas de la ciudadanía latinoamericana en 2024 y qué perfiles diferenciados pueden identificarse a partir de sus percepciones sobre democracia, economía e instituciones?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37607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681E-455F-F121-B27B-F34528B09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14196-5048-C006-E462-1A53F000F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Fuente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7100B15-2145-8739-6BCF-DA70E9A397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813067"/>
              </p:ext>
            </p:extLst>
          </p:nvPr>
        </p:nvGraphicFramePr>
        <p:xfrm>
          <a:off x="838200" y="2962072"/>
          <a:ext cx="105156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382243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67529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Año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532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Cobertura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18 países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38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Muestra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19,214 encuestados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81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Representatividad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Nacional por país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10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Tipo de muestreo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Probabilístico y estratificado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07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Personas mayores de 18 años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2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400" b="1" dirty="0"/>
                        <a:t>Ámbito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400" dirty="0"/>
                        <a:t>Urbano - rural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074451"/>
                  </a:ext>
                </a:extLst>
              </a:tr>
            </a:tbl>
          </a:graphicData>
        </a:graphic>
      </p:graphicFrame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A8C1E0-5803-B5A0-DB87-E25EE862FEE3}"/>
              </a:ext>
            </a:extLst>
          </p:cNvPr>
          <p:cNvSpPr txBox="1">
            <a:spLocks/>
          </p:cNvSpPr>
          <p:nvPr/>
        </p:nvSpPr>
        <p:spPr>
          <a:xfrm>
            <a:off x="838200" y="15528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b="1" dirty="0"/>
              <a:t>Base </a:t>
            </a:r>
            <a:r>
              <a:rPr lang="es-ES" sz="2400" b="1" dirty="0" err="1"/>
              <a:t>Latinobarómetro</a:t>
            </a:r>
            <a:r>
              <a:rPr lang="es-ES" sz="2400" b="1" dirty="0"/>
              <a:t> 2024. </a:t>
            </a:r>
            <a:r>
              <a:rPr lang="es-ES" sz="2400" dirty="0"/>
              <a:t>Encuesta representativa de población adulta en países de América Latina. Incluye percepciones sobre democracia, sistema político, economía, instituciones, valores y características sociodemográficas.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206481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935CC-CA17-D51A-891C-A64CC839D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Procesamiento y limpieza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F36EDB4-102D-25E1-AAA0-41C1B015E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781152"/>
              </p:ext>
            </p:extLst>
          </p:nvPr>
        </p:nvGraphicFramePr>
        <p:xfrm>
          <a:off x="838200" y="1825625"/>
          <a:ext cx="10515597" cy="377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0327">
                  <a:extLst>
                    <a:ext uri="{9D8B030D-6E8A-4147-A177-3AD203B41FA5}">
                      <a16:colId xmlns:a16="http://schemas.microsoft.com/office/drawing/2014/main" val="346818502"/>
                    </a:ext>
                  </a:extLst>
                </a:gridCol>
                <a:gridCol w="2301930">
                  <a:extLst>
                    <a:ext uri="{9D8B030D-6E8A-4147-A177-3AD203B41FA5}">
                      <a16:colId xmlns:a16="http://schemas.microsoft.com/office/drawing/2014/main" val="2390143316"/>
                    </a:ext>
                  </a:extLst>
                </a:gridCol>
                <a:gridCol w="6063340">
                  <a:extLst>
                    <a:ext uri="{9D8B030D-6E8A-4147-A177-3AD203B41FA5}">
                      <a16:colId xmlns:a16="http://schemas.microsoft.com/office/drawing/2014/main" val="243581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Proceso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Técnica / Métrica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1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b="1" dirty="0"/>
                        <a:t>Diagnóstico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Evaluación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19,214 filas X 49 columnas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21,935 celdas missing (2.3%)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Variables clave sin missing verificadas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27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b="1" dirty="0"/>
                        <a:t>Imputación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Tratamiento de valores faltantes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Variable crítica: ideologia_izq_der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Método: mediana por país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434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b="1" dirty="0"/>
                        <a:t>Transformación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Conversión a escalas numéricas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7 variables categóricas transformadas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Escalas ordinales preservadas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46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b="1" dirty="0"/>
                        <a:t>Creación de 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Construcción de variable compuesta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s-HN" dirty="0"/>
                        <a:t>Índice de orientación democrática:1) preferencia por sistema democrático, 2) satisfacción por funcionamiento actual y 3) confianza interpersonal como base social. Escala: 1.0 (Muy baja) – 4.0 (Muy alta).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60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32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2C4B4-70D0-13A3-F613-0B6C69A7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94E38EC-887B-48E7-3E95-664EF2E253DC}"/>
              </a:ext>
            </a:extLst>
          </p:cNvPr>
          <p:cNvSpPr txBox="1">
            <a:spLocks/>
          </p:cNvSpPr>
          <p:nvPr/>
        </p:nvSpPr>
        <p:spPr>
          <a:xfrm>
            <a:off x="990600" y="2000334"/>
            <a:ext cx="10515600" cy="2192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Construcción de un índice sintético de orientación democrática.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Selección de variables relevantes mediante LASSO.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Agrupamiento de individuos con patrones similares mediante K-medias.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/>
              <a:t>Interpretación sustantiva de los perfiles resultantes.</a:t>
            </a:r>
            <a:endParaRPr lang="es-HN" sz="2400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BB0F3C6-097C-2874-F4C0-D7A7E8887D7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HN" b="1" dirty="0"/>
              <a:t>Estrategia de análisis</a:t>
            </a:r>
          </a:p>
        </p:txBody>
      </p:sp>
    </p:spTree>
    <p:extLst>
      <p:ext uri="{BB962C8B-B14F-4D97-AF65-F5344CB8AC3E}">
        <p14:creationId xmlns:p14="http://schemas.microsoft.com/office/powerpoint/2010/main" val="377718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0FF1-CAF7-CDDC-A230-0B7266119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CD4C2BA-42F9-F9D6-15D0-7101E197CFB3}"/>
              </a:ext>
            </a:extLst>
          </p:cNvPr>
          <p:cNvSpPr txBox="1">
            <a:spLocks/>
          </p:cNvSpPr>
          <p:nvPr/>
        </p:nvSpPr>
        <p:spPr>
          <a:xfrm>
            <a:off x="838200" y="3323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Índice de orientación democrática</a:t>
            </a:r>
            <a:endParaRPr lang="es-HN" b="1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3FCA9E92-E1E9-DDA9-867C-F8AEEC37573F}"/>
              </a:ext>
            </a:extLst>
          </p:cNvPr>
          <p:cNvSpPr txBox="1">
            <a:spLocks/>
          </p:cNvSpPr>
          <p:nvPr/>
        </p:nvSpPr>
        <p:spPr>
          <a:xfrm>
            <a:off x="838200" y="1657907"/>
            <a:ext cx="10515600" cy="2192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dirty="0"/>
              <a:t>El índice combina tres dimensiones fundamentales:</a:t>
            </a:r>
          </a:p>
          <a:p>
            <a:pPr marL="0" indent="0" algn="just">
              <a:buNone/>
            </a:pPr>
            <a:endParaRPr lang="es-ES" sz="2400" dirty="0"/>
          </a:p>
          <a:p>
            <a:pPr lvl="1" algn="just"/>
            <a:r>
              <a:rPr lang="es-ES" dirty="0"/>
              <a:t>Preferencia por la democracia frente a alternativas autoritarias.</a:t>
            </a:r>
          </a:p>
          <a:p>
            <a:pPr lvl="1" algn="just"/>
            <a:r>
              <a:rPr lang="es-ES" dirty="0"/>
              <a:t>Satisfacción con el funcionamiento actual de la democracia.</a:t>
            </a:r>
          </a:p>
          <a:p>
            <a:pPr lvl="1" algn="just"/>
            <a:r>
              <a:rPr lang="es-ES" dirty="0"/>
              <a:t>Nivel de confianza interpersonal.</a:t>
            </a:r>
          </a:p>
        </p:txBody>
      </p:sp>
    </p:spTree>
    <p:extLst>
      <p:ext uri="{BB962C8B-B14F-4D97-AF65-F5344CB8AC3E}">
        <p14:creationId xmlns:p14="http://schemas.microsoft.com/office/powerpoint/2010/main" val="156748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C1C3-CFF4-81D4-1B91-1A1ADE11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7BDD401-4BB2-A765-F241-24EF8419C393}"/>
              </a:ext>
            </a:extLst>
          </p:cNvPr>
          <p:cNvSpPr txBox="1">
            <a:spLocks/>
          </p:cNvSpPr>
          <p:nvPr/>
        </p:nvSpPr>
        <p:spPr>
          <a:xfrm>
            <a:off x="838200" y="3323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Índice de orientación democrática</a:t>
            </a:r>
            <a:endParaRPr lang="es-HN" b="1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91FC789-F4BA-47E6-FD64-3C3F28E8D237}"/>
              </a:ext>
            </a:extLst>
          </p:cNvPr>
          <p:cNvSpPr txBox="1">
            <a:spLocks/>
          </p:cNvSpPr>
          <p:nvPr/>
        </p:nvSpPr>
        <p:spPr>
          <a:xfrm>
            <a:off x="838200" y="1517515"/>
            <a:ext cx="10515600" cy="1254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dirty="0"/>
              <a:t>El índice resultante presenta una distribución aproximadamente normal (media 2,42; desvío 0,69), lo que permite utilizarlo como medida continua de orientación democrática.</a:t>
            </a:r>
            <a:endParaRPr lang="es-HN" sz="2400" dirty="0"/>
          </a:p>
        </p:txBody>
      </p:sp>
      <p:graphicFrame>
        <p:nvGraphicFramePr>
          <p:cNvPr id="6" name="Marcador de contenido 3">
            <a:extLst>
              <a:ext uri="{FF2B5EF4-FFF2-40B4-BE49-F238E27FC236}">
                <a16:creationId xmlns:a16="http://schemas.microsoft.com/office/drawing/2014/main" id="{0C0F9ADA-634D-EF4B-3962-C5ED9307E5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3924319"/>
              </p:ext>
            </p:extLst>
          </p:nvPr>
        </p:nvGraphicFramePr>
        <p:xfrm>
          <a:off x="2192050" y="3337929"/>
          <a:ext cx="7667652" cy="2070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3826">
                  <a:extLst>
                    <a:ext uri="{9D8B030D-6E8A-4147-A177-3AD203B41FA5}">
                      <a16:colId xmlns:a16="http://schemas.microsoft.com/office/drawing/2014/main" val="3771305423"/>
                    </a:ext>
                  </a:extLst>
                </a:gridCol>
                <a:gridCol w="3833826">
                  <a:extLst>
                    <a:ext uri="{9D8B030D-6E8A-4147-A177-3AD203B41FA5}">
                      <a16:colId xmlns:a16="http://schemas.microsoft.com/office/drawing/2014/main" val="1825557987"/>
                    </a:ext>
                  </a:extLst>
                </a:gridCol>
              </a:tblGrid>
              <a:tr h="453484">
                <a:tc gridSpan="2">
                  <a:txBody>
                    <a:bodyPr/>
                    <a:lstStyle/>
                    <a:p>
                      <a:pPr algn="ctr"/>
                      <a:r>
                        <a:rPr lang="es-HN" sz="2400" b="1" dirty="0">
                          <a:solidFill>
                            <a:schemeClr val="bg1"/>
                          </a:solidFill>
                        </a:rPr>
                        <a:t>ÍNDICE DE ORIENTACIÓN DEMOCRÁTICA</a:t>
                      </a:r>
                    </a:p>
                  </a:txBody>
                  <a:tcPr marL="104358" marR="104358" marT="52179" marB="52179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H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857237"/>
                  </a:ext>
                </a:extLst>
              </a:tr>
              <a:tr h="400133"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Muy baja</a:t>
                      </a:r>
                    </a:p>
                  </a:txBody>
                  <a:tcPr marL="80026" marR="80026" marT="40013" marB="400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31.9%</a:t>
                      </a:r>
                    </a:p>
                  </a:txBody>
                  <a:tcPr marL="80026" marR="80026" marT="40013" marB="40013"/>
                </a:tc>
                <a:extLst>
                  <a:ext uri="{0D108BD9-81ED-4DB2-BD59-A6C34878D82A}">
                    <a16:rowId xmlns:a16="http://schemas.microsoft.com/office/drawing/2014/main" val="569467432"/>
                  </a:ext>
                </a:extLst>
              </a:tr>
              <a:tr h="400133"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Baja</a:t>
                      </a:r>
                    </a:p>
                  </a:txBody>
                  <a:tcPr marL="80026" marR="80026" marT="40013" marB="400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37.4%</a:t>
                      </a:r>
                    </a:p>
                  </a:txBody>
                  <a:tcPr marL="80026" marR="80026" marT="40013" marB="40013"/>
                </a:tc>
                <a:extLst>
                  <a:ext uri="{0D108BD9-81ED-4DB2-BD59-A6C34878D82A}">
                    <a16:rowId xmlns:a16="http://schemas.microsoft.com/office/drawing/2014/main" val="3751335085"/>
                  </a:ext>
                </a:extLst>
              </a:tr>
              <a:tr h="400133"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Alta</a:t>
                      </a:r>
                    </a:p>
                  </a:txBody>
                  <a:tcPr marL="80026" marR="80026" marT="40013" marB="400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15.6%</a:t>
                      </a:r>
                    </a:p>
                  </a:txBody>
                  <a:tcPr marL="80026" marR="80026" marT="40013" marB="40013"/>
                </a:tc>
                <a:extLst>
                  <a:ext uri="{0D108BD9-81ED-4DB2-BD59-A6C34878D82A}">
                    <a16:rowId xmlns:a16="http://schemas.microsoft.com/office/drawing/2014/main" val="2932113651"/>
                  </a:ext>
                </a:extLst>
              </a:tr>
              <a:tr h="400133"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Muy alta</a:t>
                      </a:r>
                    </a:p>
                  </a:txBody>
                  <a:tcPr marL="80026" marR="80026" marT="40013" marB="400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100" dirty="0"/>
                        <a:t>15.1%</a:t>
                      </a:r>
                    </a:p>
                  </a:txBody>
                  <a:tcPr marL="80026" marR="80026" marT="40013" marB="40013"/>
                </a:tc>
                <a:extLst>
                  <a:ext uri="{0D108BD9-81ED-4DB2-BD59-A6C34878D82A}">
                    <a16:rowId xmlns:a16="http://schemas.microsoft.com/office/drawing/2014/main" val="3920786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49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5549-60D7-F4B5-7DA2-AD0497BD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D4B163D-FD8F-BC08-69A1-D821F7C1B527}"/>
              </a:ext>
            </a:extLst>
          </p:cNvPr>
          <p:cNvSpPr txBox="1">
            <a:spLocks/>
          </p:cNvSpPr>
          <p:nvPr/>
        </p:nvSpPr>
        <p:spPr>
          <a:xfrm>
            <a:off x="838200" y="3323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¿Por qué utilizar LASSO?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26342419-9B8E-CE27-F9C4-8C1961E37A13}"/>
              </a:ext>
            </a:extLst>
          </p:cNvPr>
          <p:cNvSpPr txBox="1">
            <a:spLocks/>
          </p:cNvSpPr>
          <p:nvPr/>
        </p:nvSpPr>
        <p:spPr>
          <a:xfrm>
            <a:off x="838200" y="1657907"/>
            <a:ext cx="10515600" cy="2192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El </a:t>
            </a:r>
            <a:r>
              <a:rPr lang="es-ES" sz="2400" dirty="0" err="1"/>
              <a:t>dataset</a:t>
            </a:r>
            <a:r>
              <a:rPr lang="es-ES" sz="2400" dirty="0"/>
              <a:t> contiene decenas de variables potencialmente correlacionadas entre sí.</a:t>
            </a:r>
          </a:p>
          <a:p>
            <a:pPr algn="just"/>
            <a:r>
              <a:rPr lang="es-ES" sz="2400" dirty="0"/>
              <a:t>El método LASSO penaliza la complejidad del modelo y retiene solo las variables que aportan información sustantiva.</a:t>
            </a:r>
          </a:p>
          <a:p>
            <a:pPr algn="just"/>
            <a:r>
              <a:rPr lang="es-ES" sz="2400" dirty="0"/>
              <a:t>En este estudio, LASSO permitió reducir el conjunto de variables a un grupo de dimensiones centrales para explicar las orientaciones políticas.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408218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5186-4448-FE8C-821E-2C4AF7D1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3AEE446-5438-BB90-55BB-05C755BEEE3E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Dimensiones clave identificadas por LASSO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EE1B901-3EA0-38A9-2B87-7BE3B0BD450E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ES" sz="2400" dirty="0"/>
              <a:t>Las variables con mayor peso se agrupan en cuatro dimensiones explicativas:</a:t>
            </a:r>
          </a:p>
          <a:p>
            <a:pPr marL="0" indent="0" algn="just">
              <a:buNone/>
            </a:pPr>
            <a:endParaRPr lang="es-ES" sz="2400" dirty="0"/>
          </a:p>
          <a:p>
            <a:pPr algn="just"/>
            <a:r>
              <a:rPr lang="es-ES" sz="2400" dirty="0"/>
              <a:t>Percepción institucional: confianza en el proceso electoral, valoración de la justicia y reglas del sistema.</a:t>
            </a:r>
          </a:p>
          <a:p>
            <a:pPr algn="just"/>
            <a:r>
              <a:rPr lang="es-ES" sz="2400" dirty="0"/>
              <a:t>Evaluación económica: situación económica personal y del país.</a:t>
            </a:r>
          </a:p>
          <a:p>
            <a:pPr algn="just"/>
            <a:r>
              <a:rPr lang="es-ES" sz="2400" dirty="0"/>
              <a:t>Actitudes hacia la inmigración: impacto percibido en la economía y en oportunidades laborales.</a:t>
            </a:r>
          </a:p>
          <a:p>
            <a:pPr algn="just"/>
            <a:r>
              <a:rPr lang="es-ES" sz="2400" dirty="0"/>
              <a:t>Factores sociodemográficos: edad, educación y </a:t>
            </a:r>
            <a:r>
              <a:rPr lang="es-ES" sz="2400" dirty="0" err="1"/>
              <a:t>auto-percepción</a:t>
            </a:r>
            <a:r>
              <a:rPr lang="es-ES" sz="2400" dirty="0"/>
              <a:t> de clase social.</a:t>
            </a:r>
          </a:p>
          <a:p>
            <a:pPr marL="0" indent="0" algn="just">
              <a:buNone/>
            </a:pPr>
            <a:endParaRPr lang="es-ES" sz="2400" dirty="0"/>
          </a:p>
          <a:p>
            <a:pPr marL="0" indent="0" algn="just">
              <a:buNone/>
            </a:pPr>
            <a:r>
              <a:rPr lang="es-ES" sz="2400" dirty="0"/>
              <a:t>Estas dimensiones constituyen la base para el análisis de clústeres.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362909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2D0F7-140A-1916-2334-D960D6E4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Resultados:  LASSO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BF325AA-117B-AEFF-D534-55424FA92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52854"/>
              </p:ext>
            </p:extLst>
          </p:nvPr>
        </p:nvGraphicFramePr>
        <p:xfrm>
          <a:off x="838200" y="1825625"/>
          <a:ext cx="10515600" cy="408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849989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75934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800" b="1" dirty="0">
                          <a:solidFill>
                            <a:schemeClr val="bg1"/>
                          </a:solidFill>
                        </a:rPr>
                        <a:t>Parámetro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8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53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R2 en prueba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0.193 (19.3% de varianza explicada)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58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Variables evaluadas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50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Variables seleccionadas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16 (76.2%)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02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Error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+/- 0.62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0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Alpha óptimo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0.0036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699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Validación cruzada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5-fold CV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52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División Train-Test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70% - 30% (10,912 / 4,677 casos)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84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R2 Train vs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0.175 vs 0.193 (diferencia &lt; 0.02)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59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Error consistente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dirty="0"/>
                        <a:t>RMSE train: 0.613, test: 0.618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22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13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F9C0B-3B8D-72B8-FB22-3C8602AD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Resultados: LASSO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BFD3F27-061C-0134-254F-9A4FF89DD1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964056"/>
              </p:ext>
            </p:extLst>
          </p:nvPr>
        </p:nvGraphicFramePr>
        <p:xfrm>
          <a:off x="838200" y="1825625"/>
          <a:ext cx="10515597" cy="405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808464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1409323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3548612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HN" sz="2400" b="1" dirty="0">
                          <a:solidFill>
                            <a:schemeClr val="bg1"/>
                          </a:solidFill>
                        </a:rPr>
                        <a:t>Variables más importantes identificadas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H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H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233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Coeficiente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Interpretación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48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1. elecciones_limpias_num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+ 0.1493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Percepción de elecciones limpias &gt; más democrático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811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2. situacion_pais_num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+ 0.0845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Mejor situación del país &gt; más democrático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991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3. economia_actual_num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+ 0.0838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Mejor economía personal &gt; más democrático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17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4. 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+0.0499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Mayor edad &gt; más orientación democrática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20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5. justicia_distributiva_num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+0.0430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HN" dirty="0"/>
                        <a:t>Percepción de justicia &gt; más democrático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601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974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0F4A-0B6A-C441-03B7-F2485731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1B1B29-924C-10B2-144E-E6F52CAB182E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Análisis de clústeres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FED19978-F534-76C9-5627-B11E14B624FF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Se aplicó el método K-medias a las variables seleccionadas, previa estandarización.</a:t>
            </a:r>
          </a:p>
          <a:p>
            <a:pPr algn="just"/>
            <a:r>
              <a:rPr lang="es-ES" sz="2400" dirty="0"/>
              <a:t>Se identificaron cuatro grupos relativamente diferenciados en sus orientaciones políticas y percepciones institucionales.</a:t>
            </a:r>
          </a:p>
          <a:p>
            <a:pPr algn="just"/>
            <a:r>
              <a:rPr lang="es-ES" sz="2400" dirty="0"/>
              <a:t>El coeficiente </a:t>
            </a:r>
            <a:r>
              <a:rPr lang="es-ES" sz="2400" dirty="0" err="1"/>
              <a:t>silhouette</a:t>
            </a:r>
            <a:r>
              <a:rPr lang="es-ES" sz="2400" dirty="0"/>
              <a:t> obtenido indica una estructura de clústeres aceptable para datos de opinión pública.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3620817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D9082-38C1-D198-6164-ADEC1EF04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Resultados: K - medias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4D70E01-C9A1-69E2-DD88-ED6E05CDE8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064428"/>
              </p:ext>
            </p:extLst>
          </p:nvPr>
        </p:nvGraphicFramePr>
        <p:xfrm>
          <a:off x="1206013" y="2283460"/>
          <a:ext cx="3583193" cy="266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83193">
                  <a:extLst>
                    <a:ext uri="{9D8B030D-6E8A-4147-A177-3AD203B41FA5}">
                      <a16:colId xmlns:a16="http://schemas.microsoft.com/office/drawing/2014/main" val="3845604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b="1" dirty="0">
                          <a:solidFill>
                            <a:schemeClr val="bg1"/>
                          </a:solidFill>
                        </a:rPr>
                        <a:t>Información general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10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K – means con 4 clusters óptimos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77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9 variables seleccionadas por LASSO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84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Silhouette score: 0.1285 (separación moderada)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287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Distribución balanceada: 20-30% por segmento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712260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B698222E-D7E1-B731-9485-754B6197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710" y="1690688"/>
            <a:ext cx="6438090" cy="373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50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BB865-AFE5-B69A-B7DF-71FC87C1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C320503-90AE-3AED-5FEF-795E842D0CDD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Perfil 1: Demócratas institucionalistas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28394B8B-C162-EAC6-2897-49D60CD77A95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Apoyo normativo fuerte a la democracia.</a:t>
            </a:r>
          </a:p>
          <a:p>
            <a:pPr algn="just"/>
            <a:r>
              <a:rPr lang="es-ES" sz="2400" dirty="0"/>
              <a:t>Alta confianza en instituciones y en la limpieza del proceso electoral.</a:t>
            </a:r>
          </a:p>
          <a:p>
            <a:pPr algn="just"/>
            <a:r>
              <a:rPr lang="es-ES" sz="2400" dirty="0"/>
              <a:t>Niveles educativos relativamente altos.</a:t>
            </a:r>
          </a:p>
          <a:p>
            <a:pPr algn="just"/>
            <a:r>
              <a:rPr lang="es-ES" sz="2400" dirty="0"/>
              <a:t>Edad promedio intermedia.</a:t>
            </a:r>
          </a:p>
          <a:p>
            <a:pPr algn="just"/>
            <a:r>
              <a:rPr lang="es-ES" sz="2400" dirty="0"/>
              <a:t>Predominan percepciones económicas moderadas y baja predisposición a alternativas autoritarias.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342154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F77B-BD66-69BA-8C00-F377E0BE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6E94FFF-98F7-27C9-4017-6544AA5A5AC1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Perfil 2: Demócratas críticos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296AB08-6F3E-92A9-0AB0-E59AC7CD0193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Manifiestan su apoyo a la democracia, pero también una fuerte insatisfacción con su funcionamiento.</a:t>
            </a:r>
          </a:p>
          <a:p>
            <a:pPr algn="just"/>
            <a:r>
              <a:rPr lang="es-ES" sz="2400" dirty="0"/>
              <a:t>Desconfianza institucional elevada.</a:t>
            </a:r>
          </a:p>
          <a:p>
            <a:pPr algn="just"/>
            <a:r>
              <a:rPr lang="es-ES" sz="2400" dirty="0"/>
              <a:t>Tendencia a demandar reformas políticas profundas.</a:t>
            </a:r>
          </a:p>
          <a:p>
            <a:pPr algn="just"/>
            <a:r>
              <a:rPr lang="es-ES" sz="2400" dirty="0"/>
              <a:t>Evaluaciones económicas negativas.</a:t>
            </a:r>
          </a:p>
          <a:p>
            <a:pPr algn="just"/>
            <a:r>
              <a:rPr lang="es-ES" sz="2400" dirty="0"/>
              <a:t>Frecuentes en segmentos medios y jóvenes adultos.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80229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7DF8-AD25-2920-3D8B-9A71E2F0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D9A2E7E-7236-D7F7-7C7D-5B44A66067F8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Perfil 3: Autoritarios pragmáticos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B71FEE94-4AEB-CC01-4D82-650C3139E4EF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Apertura a alternativas de gobierno no democráticas en determinadas circunstancias.</a:t>
            </a:r>
          </a:p>
          <a:p>
            <a:pPr algn="just"/>
            <a:r>
              <a:rPr lang="es-ES" sz="2400" dirty="0"/>
              <a:t>Confianza institucional baja y percepción económica desfavorable.</a:t>
            </a:r>
          </a:p>
          <a:p>
            <a:pPr algn="just"/>
            <a:r>
              <a:rPr lang="es-ES" sz="2400" dirty="0"/>
              <a:t>Menor nivel educativo promedio.</a:t>
            </a:r>
          </a:p>
          <a:p>
            <a:pPr algn="just"/>
            <a:r>
              <a:rPr lang="es-ES" sz="2400" dirty="0"/>
              <a:t>Prefieren el “orden” y soluciones ejecutivas antes que procedimientos democráticos.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2632205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62F8-902E-8CE0-C4C8-A492EBCA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C3E6348-8D92-64AF-B0D3-CD2041787000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Perfil 4: Desencantados tradicionales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20FE61AB-121D-5F90-CD4A-9DD83ECA2242}"/>
              </a:ext>
            </a:extLst>
          </p:cNvPr>
          <p:cNvSpPr txBox="1">
            <a:spLocks/>
          </p:cNvSpPr>
          <p:nvPr/>
        </p:nvSpPr>
        <p:spPr>
          <a:xfrm>
            <a:off x="838200" y="1945531"/>
            <a:ext cx="10515600" cy="4182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Bajo compromiso con la democracia y escaso interés político.</a:t>
            </a:r>
          </a:p>
          <a:p>
            <a:pPr algn="just"/>
            <a:r>
              <a:rPr lang="es-ES" sz="2400" dirty="0"/>
              <a:t>Baja satisfacción y baja preferencia por el sistema democrático.</a:t>
            </a:r>
          </a:p>
          <a:p>
            <a:pPr algn="just"/>
            <a:r>
              <a:rPr lang="es-ES" sz="2400" dirty="0"/>
              <a:t>Valores políticos menos estructurados.</a:t>
            </a:r>
          </a:p>
          <a:p>
            <a:pPr algn="just"/>
            <a:r>
              <a:rPr lang="es-ES" sz="2400" dirty="0"/>
              <a:t>Perfil demográfico tendiente a edades más elevadas y niveles educativos más bajos.</a:t>
            </a:r>
          </a:p>
          <a:p>
            <a:pPr algn="just"/>
            <a:r>
              <a:rPr lang="es-ES" sz="2400" dirty="0"/>
              <a:t>Se caracterizan por distancia afectiva respecto de la política.</a:t>
            </a:r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1165735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9A94B-9FF7-4B46-85D1-135D78F7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Resultados: K - medias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53D6DF32-ABE4-B497-7B19-6F91D35AE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2885139"/>
              </p:ext>
            </p:extLst>
          </p:nvPr>
        </p:nvGraphicFramePr>
        <p:xfrm>
          <a:off x="838200" y="1825625"/>
          <a:ext cx="10515597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10566466"/>
                    </a:ext>
                  </a:extLst>
                </a:gridCol>
                <a:gridCol w="1366025">
                  <a:extLst>
                    <a:ext uri="{9D8B030D-6E8A-4147-A177-3AD203B41FA5}">
                      <a16:colId xmlns:a16="http://schemas.microsoft.com/office/drawing/2014/main" val="3247352282"/>
                    </a:ext>
                  </a:extLst>
                </a:gridCol>
                <a:gridCol w="5644373">
                  <a:extLst>
                    <a:ext uri="{9D8B030D-6E8A-4147-A177-3AD203B41FA5}">
                      <a16:colId xmlns:a16="http://schemas.microsoft.com/office/drawing/2014/main" val="137617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Perfil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2000" b="1" dirty="0">
                          <a:solidFill>
                            <a:schemeClr val="bg1"/>
                          </a:solidFill>
                        </a:rPr>
                        <a:t>Características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194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1. Demócratas institucionalistas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Alta satisfacción democrática // Alta confianza en elecciones // Optimismo económico // Educación media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4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2. Demócratas críticos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28.8%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Preferencia democrática fuerte // Baja satisfacción // Mayor educación // Pesimismo económico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164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3. Autoritarios pragmáticos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Preferencia autoritaria // Jóvenes // Educación media-alta (11.6 años) // Desconfianza electoral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55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dirty="0"/>
                        <a:t>4. Desencantados tradicionales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dirty="0"/>
                        <a:t>Adultos mayores // Educación muy baja (4.1 años) // Preferencia democrática ambivalente // Desconfianza generalizada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801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196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8DC13C8-1E7E-788B-7594-F5A65A562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1"/>
          <a:stretch>
            <a:fillRect/>
          </a:stretch>
        </p:blipFill>
        <p:spPr>
          <a:xfrm>
            <a:off x="165371" y="433202"/>
            <a:ext cx="11557648" cy="61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70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B2624A-4194-984A-424A-7F9DE7B5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57" y="496268"/>
            <a:ext cx="10297886" cy="586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16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5DE224-0950-E5C1-721A-CC014F31C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39" y="261256"/>
            <a:ext cx="9412017" cy="634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3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4C72051-D012-CE48-6901-39F860574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792"/>
          <a:stretch>
            <a:fillRect/>
          </a:stretch>
        </p:blipFill>
        <p:spPr>
          <a:xfrm>
            <a:off x="932898" y="632296"/>
            <a:ext cx="10740293" cy="580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50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F4D88-3386-14DC-C89D-2BAB1548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Principales hallazgos</a:t>
            </a:r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05A56A34-A7F8-8E59-BCDD-11C3FDA24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150211"/>
              </p:ext>
            </p:extLst>
          </p:nvPr>
        </p:nvGraphicFramePr>
        <p:xfrm>
          <a:off x="838200" y="1825625"/>
          <a:ext cx="10515600" cy="454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8031">
                  <a:extLst>
                    <a:ext uri="{9D8B030D-6E8A-4147-A177-3AD203B41FA5}">
                      <a16:colId xmlns:a16="http://schemas.microsoft.com/office/drawing/2014/main" val="3882661290"/>
                    </a:ext>
                  </a:extLst>
                </a:gridCol>
                <a:gridCol w="2312894">
                  <a:extLst>
                    <a:ext uri="{9D8B030D-6E8A-4147-A177-3AD203B41FA5}">
                      <a16:colId xmlns:a16="http://schemas.microsoft.com/office/drawing/2014/main" val="654848098"/>
                    </a:ext>
                  </a:extLst>
                </a:gridCol>
                <a:gridCol w="3001383">
                  <a:extLst>
                    <a:ext uri="{9D8B030D-6E8A-4147-A177-3AD203B41FA5}">
                      <a16:colId xmlns:a16="http://schemas.microsoft.com/office/drawing/2014/main" val="2333365232"/>
                    </a:ext>
                  </a:extLst>
                </a:gridCol>
                <a:gridCol w="3253292">
                  <a:extLst>
                    <a:ext uri="{9D8B030D-6E8A-4147-A177-3AD203B41FA5}">
                      <a16:colId xmlns:a16="http://schemas.microsoft.com/office/drawing/2014/main" val="517595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HN" sz="1400" dirty="0"/>
                        <a:t>Hallazgo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400" dirty="0"/>
                        <a:t>Variables involucradas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400" dirty="0"/>
                        <a:t>Valores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HN" sz="1400" dirty="0"/>
                        <a:t>Interpretación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66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 dirty="0">
                          <a:effectLst/>
                        </a:rPr>
                        <a:t>1. Confianza electoral discrimina más que ideología</a:t>
                      </a:r>
                      <a:endParaRPr lang="es-HN" sz="1400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  <a:latin typeface="var(--ds-font-family-code)"/>
                        </a:rPr>
                        <a:t>Percepción de elecciones limpias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  <a:latin typeface="var(--ds-font-family-code)"/>
                        </a:rPr>
                        <a:t>Auto ubicación izquierda-derecha</a:t>
                      </a:r>
                      <a:endParaRPr lang="es-HN" sz="1400" dirty="0">
                        <a:effectLst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 dirty="0">
                          <a:effectLst/>
                        </a:rPr>
                        <a:t>0.79</a:t>
                      </a:r>
                      <a:r>
                        <a:rPr lang="es-HN" sz="1400" dirty="0">
                          <a:effectLst/>
                        </a:rPr>
                        <a:t> (Cluster 3) vs </a:t>
                      </a:r>
                      <a:r>
                        <a:rPr lang="es-HN" sz="1400" b="1" dirty="0">
                          <a:effectLst/>
                        </a:rPr>
                        <a:t>0.17-0.20</a:t>
                      </a:r>
                      <a:r>
                        <a:rPr lang="es-HN" sz="1400" dirty="0">
                          <a:effectLst/>
                        </a:rPr>
                        <a:t> (otros clusters) vs variación ideológica: 5.00-5.40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dirty="0">
                          <a:effectLst/>
                        </a:rPr>
                        <a:t>La percepción de procesos electorales limpios es mayor divisor que posición izquierda-derecha.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7663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2. Educación no garantiza preferencia democrática</a:t>
                      </a:r>
                      <a:endParaRPr lang="es-HN" sz="140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Años de educación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Preferencia por democracia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Edad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Cluster 0:</a:t>
                      </a:r>
                      <a:r>
                        <a:rPr lang="es-HN" sz="1400">
                          <a:effectLst/>
                        </a:rPr>
                        <a:t> 11.6 años educación, 1.37 preferencia, 33.5 años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 b="1">
                          <a:effectLst/>
                        </a:rPr>
                        <a:t>Cluster 1:</a:t>
                      </a:r>
                      <a:r>
                        <a:rPr lang="es-HN" sz="1400">
                          <a:effectLst/>
                        </a:rPr>
                        <a:t> 13.1 años educación, 2.79 preferencia, 38.2 años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dirty="0">
                          <a:effectLst/>
                        </a:rPr>
                        <a:t>Jóvenes educados tienen menor preferencia democrática que adultos educados.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8936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3. Tres combinaciones de preferencia-satisfacción</a:t>
                      </a:r>
                      <a:endParaRPr lang="es-HN" sz="140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Preferencia por democracia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Satisfacción con la democracia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Cluster 3:</a:t>
                      </a:r>
                      <a:r>
                        <a:rPr lang="es-HN" sz="1400">
                          <a:effectLst/>
                        </a:rPr>
                        <a:t> 2.75 + 3.08 (alta+alta)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 b="1">
                          <a:effectLst/>
                        </a:rPr>
                        <a:t>Cluster 1:</a:t>
                      </a:r>
                      <a:r>
                        <a:rPr lang="es-HN" sz="1400">
                          <a:effectLst/>
                        </a:rPr>
                        <a:t> 2.79 + 1.71 (alta+baja)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 b="1">
                          <a:effectLst/>
                        </a:rPr>
                        <a:t>Cluster 0:</a:t>
                      </a:r>
                      <a:r>
                        <a:rPr lang="es-HN" sz="1400">
                          <a:effectLst/>
                        </a:rPr>
                        <a:t> 1.37 + 1.98 (baja+baja)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dirty="0">
                          <a:effectLst/>
                        </a:rPr>
                        <a:t>La población se divide en: satisfechos, críticos y quienes plantean la necesidad de una alternativa.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14772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b="1">
                          <a:effectLst/>
                        </a:rPr>
                        <a:t>4. Variables demográficas &gt; variables actitudinales</a:t>
                      </a:r>
                      <a:endParaRPr lang="es-HN" sz="140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Edad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Años de educación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1400" dirty="0">
                          <a:effectLst/>
                        </a:rPr>
                        <a:t>Preferencia por democracia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>
                          <a:effectLst/>
                        </a:rPr>
                        <a:t>Rangos: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>
                          <a:effectLst/>
                        </a:rPr>
                        <a:t>Edad: </a:t>
                      </a:r>
                      <a:r>
                        <a:rPr lang="es-HN" sz="1400" b="1">
                          <a:effectLst/>
                        </a:rPr>
                        <a:t>20.3 años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>
                          <a:effectLst/>
                        </a:rPr>
                        <a:t>Educación: </a:t>
                      </a:r>
                      <a:r>
                        <a:rPr lang="es-HN" sz="1400" b="1">
                          <a:effectLst/>
                        </a:rPr>
                        <a:t>9.0 años</a:t>
                      </a:r>
                      <a:br>
                        <a:rPr lang="es-HN" sz="1400">
                          <a:effectLst/>
                        </a:rPr>
                      </a:br>
                      <a:r>
                        <a:rPr lang="es-HN" sz="1400">
                          <a:effectLst/>
                        </a:rPr>
                        <a:t>Preferencia: </a:t>
                      </a:r>
                      <a:r>
                        <a:rPr lang="es-HN" sz="1400" b="1">
                          <a:effectLst/>
                        </a:rPr>
                        <a:t>1.43 puntos</a:t>
                      </a:r>
                      <a:endParaRPr lang="es-HN" sz="1400">
                        <a:effectLst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HN" sz="1400" dirty="0">
                          <a:effectLst/>
                        </a:rPr>
                        <a:t>Diferencias demográficas entre clusters son mayores que diferencias en actitudes políticas.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8234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449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97FC-C2A9-F1DF-D2C6-EE28310B1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81B26-665D-DDEF-C652-4913BA0F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/>
              <a:t>Principales hallazgos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89DD058-980F-07C0-FC14-8025075AE4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232476"/>
              </p:ext>
            </p:extLst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399696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HN" sz="2400" b="1" dirty="0">
                          <a:solidFill>
                            <a:schemeClr val="bg1"/>
                          </a:solidFill>
                        </a:rPr>
                        <a:t>1. Eje democrático (Satisfacción vs Preferencia)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433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Demócratas críticos: Alta preferencia + Baja satisfacción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Autoritarios pragrmáticos: Baja preferencia+ Baja satisfacción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Demócratas institucionalistas: Alta preferencia + Alta satisfacción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5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HN" sz="2400" b="1" dirty="0">
                          <a:solidFill>
                            <a:schemeClr val="bg1"/>
                          </a:solidFill>
                        </a:rPr>
                        <a:t>2. Eje Generacional - educativo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697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Jóvenes educados &gt;&gt; Autoritarios pragmáticos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Adultos mayores con baja educación &gt;&gt; Desencantados tradicionales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HN" sz="2400" dirty="0"/>
                        <a:t>Educados de todas edades &gt;&gt; Demócratas críticos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3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327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6D21-8FEB-10F3-73E9-DC7CE53A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BEA2FF7-AE99-324D-F55D-FA19FD6EC600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Conclusiones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0613DDD-5205-924D-1F9C-C50ECBFD6913}"/>
              </a:ext>
            </a:extLst>
          </p:cNvPr>
          <p:cNvSpPr txBox="1">
            <a:spLocks/>
          </p:cNvSpPr>
          <p:nvPr/>
        </p:nvSpPr>
        <p:spPr>
          <a:xfrm>
            <a:off x="838200" y="1896894"/>
            <a:ext cx="10515600" cy="454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Los cuatro perfiles presentan tamaños relativamente equilibrados, lo que sugiere una estructura heterogénea de actitudes políticas.</a:t>
            </a:r>
          </a:p>
          <a:p>
            <a:pPr algn="just"/>
            <a:r>
              <a:rPr lang="es-ES" sz="2400" dirty="0"/>
              <a:t>La fuerza relativa de cada perfil varía entre países, indicando que los factores institucionales nacionales modulan las orientaciones ciudadanas.</a:t>
            </a:r>
          </a:p>
          <a:p>
            <a:pPr algn="just"/>
            <a:r>
              <a:rPr lang="es-ES" sz="2400" dirty="0"/>
              <a:t>El apoyo declarativo a la democracia es alto, pero la satisfacción con su funcionamiento es baja.</a:t>
            </a:r>
          </a:p>
          <a:p>
            <a:pPr algn="just"/>
            <a:r>
              <a:rPr lang="es-ES" sz="2400" dirty="0"/>
              <a:t>Las orientaciones políticas se estructuran en torno a dos ejes principales: </a:t>
            </a:r>
          </a:p>
          <a:p>
            <a:pPr marL="914400" lvl="2" indent="0" algn="just">
              <a:buNone/>
            </a:pPr>
            <a:r>
              <a:rPr lang="es-ES" sz="2400" dirty="0"/>
              <a:t>a) confianza vs. desconfianza institucional.</a:t>
            </a:r>
          </a:p>
          <a:p>
            <a:pPr marL="914400" lvl="2" indent="0" algn="just">
              <a:buNone/>
            </a:pPr>
            <a:r>
              <a:rPr lang="es-ES" sz="2400" dirty="0"/>
              <a:t>b) nivel educativo y edad.</a:t>
            </a:r>
          </a:p>
          <a:p>
            <a:pPr algn="just"/>
            <a:r>
              <a:rPr lang="es-ES" sz="2400" dirty="0"/>
              <a:t>Los perfiles muestran demandas políticas divergentes y, en algunos casos, contradictorias.</a:t>
            </a:r>
            <a:endParaRPr lang="es-HN" sz="2400" dirty="0"/>
          </a:p>
          <a:p>
            <a:pPr algn="just"/>
            <a:endParaRPr lang="es-HN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8ACD01-66EE-66AA-5859-559B353A57ED}"/>
              </a:ext>
            </a:extLst>
          </p:cNvPr>
          <p:cNvSpPr txBox="1">
            <a:spLocks/>
          </p:cNvSpPr>
          <p:nvPr/>
        </p:nvSpPr>
        <p:spPr>
          <a:xfrm>
            <a:off x="838200" y="4523362"/>
            <a:ext cx="10515600" cy="2115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1406086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7242-0D70-A175-7309-9B7D5CDD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46C7B62-5CD6-ED35-042A-C09377FA9FD7}"/>
              </a:ext>
            </a:extLst>
          </p:cNvPr>
          <p:cNvSpPr txBox="1">
            <a:spLocks/>
          </p:cNvSpPr>
          <p:nvPr/>
        </p:nvSpPr>
        <p:spPr>
          <a:xfrm>
            <a:off x="838200" y="418289"/>
            <a:ext cx="106112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/>
              <a:t>Conclusiones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BE480FCD-E7FA-250A-969B-71D76DA2A6C0}"/>
              </a:ext>
            </a:extLst>
          </p:cNvPr>
          <p:cNvSpPr txBox="1">
            <a:spLocks/>
          </p:cNvSpPr>
          <p:nvPr/>
        </p:nvSpPr>
        <p:spPr>
          <a:xfrm>
            <a:off x="838200" y="1896894"/>
            <a:ext cx="10515600" cy="454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/>
              <a:t>La fragmentación en perfiles con actitudes y demandas marcadamente distintas implica desafíos para la gobernabilidad democrática:</a:t>
            </a:r>
          </a:p>
          <a:p>
            <a:pPr marL="0" indent="0" algn="just">
              <a:buNone/>
            </a:pPr>
            <a:endParaRPr lang="es-ES" sz="2400" dirty="0"/>
          </a:p>
          <a:p>
            <a:pPr lvl="1" algn="just"/>
            <a:r>
              <a:rPr lang="es-ES" dirty="0"/>
              <a:t>Los grupos críticos demandan reformas institucionales.</a:t>
            </a:r>
          </a:p>
          <a:p>
            <a:pPr lvl="1" algn="just"/>
            <a:r>
              <a:rPr lang="es-ES" dirty="0"/>
              <a:t>Los desencantados se vinculan débilmente con el sistema.</a:t>
            </a:r>
          </a:p>
          <a:p>
            <a:pPr lvl="1" algn="just"/>
            <a:r>
              <a:rPr lang="es-ES" dirty="0"/>
              <a:t>Los autoritarios pragmáticos pueden apoyar alternativas no democráticas en contextos de crisis.</a:t>
            </a:r>
          </a:p>
          <a:p>
            <a:pPr marL="914400" lvl="2" indent="0" algn="just">
              <a:buNone/>
            </a:pPr>
            <a:endParaRPr lang="es-ES" sz="2400" dirty="0"/>
          </a:p>
          <a:p>
            <a:pPr algn="just"/>
            <a:r>
              <a:rPr lang="es-ES" sz="2400" dirty="0"/>
              <a:t>Comprender estas configuraciones permite anticipar riesgos y diseñar estrategias de fortalecimiento democrático.</a:t>
            </a:r>
            <a:endParaRPr lang="es-HN" sz="2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5E534-03FC-6750-B99E-3BEBB3941D5A}"/>
              </a:ext>
            </a:extLst>
          </p:cNvPr>
          <p:cNvSpPr txBox="1">
            <a:spLocks/>
          </p:cNvSpPr>
          <p:nvPr/>
        </p:nvSpPr>
        <p:spPr>
          <a:xfrm>
            <a:off x="838200" y="4523362"/>
            <a:ext cx="10515600" cy="2115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HN" sz="2400" dirty="0"/>
          </a:p>
        </p:txBody>
      </p:sp>
    </p:spTree>
    <p:extLst>
      <p:ext uri="{BB962C8B-B14F-4D97-AF65-F5344CB8AC3E}">
        <p14:creationId xmlns:p14="http://schemas.microsoft.com/office/powerpoint/2010/main" val="1522613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</TotalTime>
  <Words>1491</Words>
  <Application>Microsoft Office PowerPoint</Application>
  <PresentationFormat>Panorámica</PresentationFormat>
  <Paragraphs>224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Segoe UI</vt:lpstr>
      <vt:lpstr>var(--ds-font-family-code)</vt:lpstr>
      <vt:lpstr>Tema de Office</vt:lpstr>
      <vt:lpstr> Maestría en Economía Aplicada  Taller de Programación  Docente: Noelia Romero</vt:lpstr>
      <vt:lpstr>Motivación</vt:lpstr>
      <vt:lpstr>Fuente datos</vt:lpstr>
      <vt:lpstr>Procesamiento y limpieza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Resultados:  LASSO</vt:lpstr>
      <vt:lpstr>Resultados: LASSO</vt:lpstr>
      <vt:lpstr>Presentación de PowerPoint</vt:lpstr>
      <vt:lpstr>Resultados: K - medias</vt:lpstr>
      <vt:lpstr>Presentación de PowerPoint</vt:lpstr>
      <vt:lpstr>Presentación de PowerPoint</vt:lpstr>
      <vt:lpstr>Presentación de PowerPoint</vt:lpstr>
      <vt:lpstr>Presentación de PowerPoint</vt:lpstr>
      <vt:lpstr>Resultados: K - medias</vt:lpstr>
      <vt:lpstr>Presentación de PowerPoint</vt:lpstr>
      <vt:lpstr>Presentación de PowerPoint</vt:lpstr>
      <vt:lpstr>Presentación de PowerPoint</vt:lpstr>
      <vt:lpstr>Presentación de PowerPoint</vt:lpstr>
      <vt:lpstr>Principales hallazgos</vt:lpstr>
      <vt:lpstr>Principales hallazgos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Josue Pineda Talavera</dc:creator>
  <cp:lastModifiedBy>Andrés Cammisi</cp:lastModifiedBy>
  <cp:revision>37</cp:revision>
  <dcterms:created xsi:type="dcterms:W3CDTF">2025-12-07T19:27:08Z</dcterms:created>
  <dcterms:modified xsi:type="dcterms:W3CDTF">2025-12-10T01:40:54Z</dcterms:modified>
</cp:coreProperties>
</file>